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8548e6e6-2c81-2735-69d2-cee7eb434d10}">
          <p14:sldIdLst>
            <p14:sldId id="256"/>
            <p14:sldId id="257"/>
          </p14:sldIdLst>
        </p14:section>
        <p14:section name="BioEmu" id="{2ff92eee-f7fc-89e0-c23a-486f6669ecb0}">
          <p14:sldIdLst>
            <p14:sldId id="258"/>
            <p14:sldId id="259"/>
            <p14:sldId id="260"/>
            <p14:sldId id="261"/>
          </p14:sldIdLst>
        </p14:section>
        <p14:section name="Entradas y salidas" id="{e74af6c9-f7eb-3f0e-b3af-a1d91e195cb0}">
          <p14:sldIdLst>
            <p14:sldId id="262"/>
            <p14:sldId id="263"/>
          </p14:sldIdLst>
        </p14:section>
        <p14:section name="Caso LBPCheY" id="{8fb3cb34-c4ee-b986-4832-4c152820f5c6}">
          <p14:sldIdLst>
            <p14:sldId id="264"/>
            <p14:sldId id="265"/>
            <p14:sldId id="266"/>
            <p14:sldId id="267"/>
            <p14:sldId id="268"/>
          </p14:sldIdLst>
        </p14:section>
        <p14:section name="Conclusiones" id="{31291094-82b4-900d-75a5-68b9d78f9555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3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33A"/>
                </a:solidFill>
                <a:latin typeface="+mn-lt"/>
              </a:rPr>
              <a:t>Distancia entre centros de los lóbulos (Å)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Estructuras</c:v>
                </c:pt>
              </c:strCache>
            </c:strRef>
          </c:tx>
          <c:spPr>
            <a:solidFill>
              <a:srgbClr val="E87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22</c:v>
                  </c:pt>
                  <c:pt idx="1">
                    <c:v>23</c:v>
                  </c:pt>
                  <c:pt idx="2">
                    <c:v>24</c:v>
                  </c:pt>
                  <c:pt idx="3">
                    <c:v>25</c:v>
                  </c:pt>
                  <c:pt idx="4">
                    <c:v>26</c:v>
                  </c:pt>
                  <c:pt idx="5">
                    <c:v>27</c:v>
                  </c:pt>
                  <c:pt idx="6">
                    <c:v>28</c:v>
                  </c:pt>
                  <c:pt idx="7">
                    <c:v>29</c:v>
                  </c:pt>
                  <c:pt idx="8">
                    <c:v>30</c:v>
                  </c:pt>
                  <c:pt idx="9">
                    <c:v>31</c:v>
                  </c:pt>
                  <c:pt idx="10">
                    <c:v>32</c:v>
                  </c:pt>
                  <c:pt idx="11">
                    <c:v>33</c:v>
                  </c:pt>
                  <c:pt idx="12">
                    <c:v>34</c:v>
                  </c:pt>
                  <c:pt idx="13">
                    <c:v>35</c:v>
                  </c:pt>
                  <c:pt idx="14">
                    <c:v>36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0</c:v>
                </c:pt>
                <c:pt idx="2">
                  <c:v>8</c:v>
                </c:pt>
                <c:pt idx="3">
                  <c:v>28</c:v>
                </c:pt>
                <c:pt idx="4">
                  <c:v>58</c:v>
                </c:pt>
                <c:pt idx="5">
                  <c:v>48</c:v>
                </c:pt>
                <c:pt idx="6">
                  <c:v>42</c:v>
                </c:pt>
                <c:pt idx="7">
                  <c:v>30</c:v>
                </c:pt>
                <c:pt idx="8">
                  <c:v>13</c:v>
                </c:pt>
                <c:pt idx="9">
                  <c:v>8</c:v>
                </c:pt>
                <c:pt idx="10">
                  <c:v>6</c:v>
                </c:pt>
                <c:pt idx="11">
                  <c:v>0</c:v>
                </c:pt>
                <c:pt idx="12">
                  <c:v>3</c:v>
                </c:pt>
                <c:pt idx="13">
                  <c:v>0</c:v>
                </c:pt>
                <c:pt idx="1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B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8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8"/>
                    </a:solidFill>
                    <a:latin typeface="+mn-lt"/>
                  </a:rPr>
                  <a:t>Å (límite inferior del intervalo de 1 Å)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8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8"/>
                    </a:solidFill>
                    <a:latin typeface="+mn-lt"/>
                  </a:rPr>
                  <a:t>Estructuras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método BioEmu y su aplicación a la quimera LBPCheY: un dominio CheY insertado en la proteína de unión a leucina.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AlphaFold da una estructura; la MD da ensambles pero es costosa. BioEmu ocupa el espacio intermedio: ensambles de equilibrio a bajo costo.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de AF3 representa bien la apertura típica, pero el ensamble muestra estados más cerrados y más abiertos que un modelo estático no revela.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6400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BioEmu · Quimera LBPCheY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BioEmu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Emulación de ensambles conformacionales de proteínas con IA generativa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estudio: la quimera LBPCheY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Octubre 2026</a:t>
            </a:r>
            <a:endParaRPr lang="en-US" sz="1400" dirty="0"/>
          </a:p>
        </p:txBody>
      </p:sp>
      <p:pic>
        <p:nvPicPr>
          <p:cNvPr id="5" name="modelo-af3" descr="af3_dominios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417320"/>
            <a:ext cx="4846320" cy="329257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892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Modelo 0 de AlphaFold3 · LBP en gris, CheY en naranja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</a:t>
            </a:r>
            <a:endParaRPr lang="en-US" sz="3200" dirty="0"/>
          </a:p>
        </p:txBody>
      </p:sp>
      <p:sp>
        <p:nvSpPr>
          <p:cNvPr id="3" name="agenda-01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El problema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Por qué una sola estructura no basta</a:t>
            </a:r>
            <a:endParaRPr lang="en-US" sz="1400" dirty="0"/>
          </a:p>
        </p:txBody>
      </p:sp>
      <p:sp>
        <p:nvSpPr>
          <p:cNvPr id="7" name="agenda-02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468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Qué es BioEmu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Origen, alcance y entrenamiento</a:t>
            </a:r>
            <a:endParaRPr lang="en-US" sz="1400" dirty="0"/>
          </a:p>
        </p:txBody>
      </p:sp>
      <p:sp>
        <p:nvSpPr>
          <p:cNvPr id="11" name="agenda-03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5820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2468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funciona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De la secuencia al ensamble</a:t>
            </a:r>
            <a:endParaRPr lang="en-US" sz="1400" dirty="0"/>
          </a:p>
        </p:txBody>
      </p:sp>
      <p:sp>
        <p:nvSpPr>
          <p:cNvPr id="15" name="agenda-04"/>
          <p:cNvSpPr/>
          <p:nvPr/>
        </p:nvSpPr>
        <p:spPr>
          <a:xfrm>
            <a:off x="548640" y="384048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114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463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Entradas y salidas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257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Parámetros y archivos generados</a:t>
            </a:r>
            <a:endParaRPr lang="en-US" sz="1400" dirty="0"/>
          </a:p>
        </p:txBody>
      </p:sp>
      <p:sp>
        <p:nvSpPr>
          <p:cNvPr id="19" name="agenda-05"/>
          <p:cNvSpPr/>
          <p:nvPr/>
        </p:nvSpPr>
        <p:spPr>
          <a:xfrm>
            <a:off x="4343400" y="384048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114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8463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Caso LBPCheY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5257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Pipeline completo y resultados</a:t>
            </a:r>
            <a:endParaRPr lang="en-US" sz="1400" dirty="0"/>
          </a:p>
        </p:txBody>
      </p:sp>
      <p:sp>
        <p:nvSpPr>
          <p:cNvPr id="23" name="agenda-06"/>
          <p:cNvSpPr/>
          <p:nvPr/>
        </p:nvSpPr>
        <p:spPr>
          <a:xfrm>
            <a:off x="8138160" y="3840480"/>
            <a:ext cx="35204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4114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8458200" y="48463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Conclusiones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5257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Limitaciones y siguientes pasos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estructura no describe cómo se mueve una proteína</a:t>
            </a:r>
            <a:endParaRPr lang="en-US" sz="3200" dirty="0"/>
          </a:p>
        </p:txBody>
      </p:sp>
      <p:sp>
        <p:nvSpPr>
          <p:cNvPr id="3" name="opcion-0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pcion-0-circulo"/>
          <p:cNvSpPr/>
          <p:nvPr/>
        </p:nvSpPr>
        <p:spPr>
          <a:xfrm>
            <a:off x="86868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opcion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Predicción estática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AlphaFold y similares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Una conformación por modelo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Muy precisa para el estado más probable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informa sobre poblaciones ni flexibilidad</a:t>
            </a:r>
            <a:endParaRPr lang="en-US" sz="1500" dirty="0"/>
          </a:p>
        </p:txBody>
      </p:sp>
      <p:sp>
        <p:nvSpPr>
          <p:cNvPr id="9" name="opcion-1"/>
          <p:cNvSpPr/>
          <p:nvPr/>
        </p:nvSpPr>
        <p:spPr>
          <a:xfrm>
            <a:off x="434340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pcion-1-circulo"/>
          <p:cNvSpPr/>
          <p:nvPr/>
        </p:nvSpPr>
        <p:spPr>
          <a:xfrm>
            <a:off x="466344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opcion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9659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Dinámica molecular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108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Simulación física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365760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Ensamble con base física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Cambios lentos (µs–ms) cuestan semanas de GPU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Difícil de escalar a muchas proteínas</a:t>
            </a:r>
            <a:endParaRPr lang="en-US" sz="1500" dirty="0"/>
          </a:p>
        </p:txBody>
      </p:sp>
      <p:sp>
        <p:nvSpPr>
          <p:cNvPr id="15" name="opcion-2"/>
          <p:cNvSpPr/>
          <p:nvPr/>
        </p:nvSpPr>
        <p:spPr>
          <a:xfrm>
            <a:off x="813816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430">
                <a:alpha val="12000"/>
              </a:srgbClr>
            </a:outerShdw>
          </a:effectLst>
        </p:spPr>
      </p:sp>
      <p:sp>
        <p:nvSpPr>
          <p:cNvPr id="16" name="opcion-2-circulo"/>
          <p:cNvSpPr/>
          <p:nvPr/>
        </p:nvSpPr>
        <p:spPr>
          <a:xfrm>
            <a:off x="845820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opcion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9659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58200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BioEmu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108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Emulador generativo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365760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Ensamble de equilibrio desde la secuencia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Miles de estructuras por hora en una GPU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Muestras estadísticamente independientes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BioEmu: el ensamble de equilibrio desde la secuencia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Modelo generativo de difusión de Microsoft Research (Lewis et al., Science 2025).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Recibe una secuencia de una sola cadena y produce muestras independientes de su ensamble de equilibrio. Captura movimientos funcionales como bolsillos crípticos, desplegamiento local y rearreglos entre dominios.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Código y pesos abiertos (licencia MIT): </a:t>
            </a:r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github.com/microsoft/bioemu</a:t>
            </a:r>
            <a:endParaRPr lang="en-US" sz="1700" dirty="0"/>
          </a:p>
        </p:txBody>
      </p:sp>
      <p:sp>
        <p:nvSpPr>
          <p:cNvPr id="4" name="dato-0"/>
          <p:cNvSpPr/>
          <p:nvPr/>
        </p:nvSpPr>
        <p:spPr>
          <a:xfrm>
            <a:off x="6172200" y="1463040"/>
            <a:ext cx="5470855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92240" y="16459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&gt;200 ms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0" y="1645920"/>
            <a:ext cx="24076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 simulaciones de MD integradas en el entrenamiento</a:t>
            </a:r>
            <a:endParaRPr lang="en-US" sz="1500" dirty="0"/>
          </a:p>
        </p:txBody>
      </p:sp>
      <p:sp>
        <p:nvSpPr>
          <p:cNvPr id="7" name="dato-1"/>
          <p:cNvSpPr/>
          <p:nvPr/>
        </p:nvSpPr>
        <p:spPr>
          <a:xfrm>
            <a:off x="6172200" y="2926080"/>
            <a:ext cx="5470855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31089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kcal/mol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3108960"/>
            <a:ext cx="24076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 error en energías libres relativas frente a MD y experimento</a:t>
            </a:r>
            <a:endParaRPr lang="en-US" sz="1500" dirty="0"/>
          </a:p>
        </p:txBody>
      </p:sp>
      <p:sp>
        <p:nvSpPr>
          <p:cNvPr id="10" name="dato-2"/>
          <p:cNvSpPr/>
          <p:nvPr/>
        </p:nvSpPr>
        <p:spPr>
          <a:xfrm>
            <a:off x="6172200" y="4389120"/>
            <a:ext cx="5470855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4572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 / h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4572000"/>
            <a:ext cx="24076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 estructuras independientes en una sola GPU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funciona: de la secuencia al ensamble</a:t>
            </a:r>
            <a:endParaRPr lang="en-US" sz="3200" dirty="0"/>
          </a:p>
        </p:txBody>
      </p:sp>
      <p:sp>
        <p:nvSpPr>
          <p:cNvPr id="3" name="paso-0-circulo"/>
          <p:cNvSpPr/>
          <p:nvPr/>
        </p:nvSpPr>
        <p:spPr>
          <a:xfrm>
            <a:off x="1051560" y="160020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paso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3020" y="1851660"/>
            <a:ext cx="502920" cy="502920"/>
          </a:xfrm>
          <a:prstGeom prst="rect">
            <a:avLst/>
          </a:prstGeom>
        </p:spPr>
      </p:pic>
      <p:sp>
        <p:nvSpPr>
          <p:cNvPr id="5" name="flecha-0"/>
          <p:cNvSpPr/>
          <p:nvPr/>
        </p:nvSpPr>
        <p:spPr>
          <a:xfrm>
            <a:off x="2148840" y="2103120"/>
            <a:ext cx="108196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548640" y="2788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Secuencia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Una cadena, en texto o FASTA</a:t>
            </a:r>
            <a:endParaRPr lang="en-US" sz="1400" dirty="0"/>
          </a:p>
        </p:txBody>
      </p:sp>
      <p:sp>
        <p:nvSpPr>
          <p:cNvPr id="8" name="paso-1-circulo"/>
          <p:cNvSpPr/>
          <p:nvPr/>
        </p:nvSpPr>
        <p:spPr>
          <a:xfrm>
            <a:off x="3322244" y="160020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9" name="paso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704" y="1851660"/>
            <a:ext cx="502920" cy="502920"/>
          </a:xfrm>
          <a:prstGeom prst="rect">
            <a:avLst/>
          </a:prstGeom>
        </p:spPr>
      </p:pic>
      <p:sp>
        <p:nvSpPr>
          <p:cNvPr id="10" name="flecha-1"/>
          <p:cNvSpPr/>
          <p:nvPr/>
        </p:nvSpPr>
        <p:spPr>
          <a:xfrm>
            <a:off x="4419524" y="2103120"/>
            <a:ext cx="108196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Text 7"/>
          <p:cNvSpPr txBox="1"/>
          <p:nvPr/>
        </p:nvSpPr>
        <p:spPr>
          <a:xfrm>
            <a:off x="2819324" y="2788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MSA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2819324" y="3246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Alineamiento múltiple vía ColabFold</a:t>
            </a:r>
            <a:endParaRPr lang="en-US" sz="1400" dirty="0"/>
          </a:p>
        </p:txBody>
      </p:sp>
      <p:sp>
        <p:nvSpPr>
          <p:cNvPr id="13" name="paso-2-circulo"/>
          <p:cNvSpPr/>
          <p:nvPr/>
        </p:nvSpPr>
        <p:spPr>
          <a:xfrm>
            <a:off x="5592928" y="160020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paso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1851660"/>
            <a:ext cx="502920" cy="502920"/>
          </a:xfrm>
          <a:prstGeom prst="rect">
            <a:avLst/>
          </a:prstGeom>
        </p:spPr>
      </p:pic>
      <p:sp>
        <p:nvSpPr>
          <p:cNvPr id="15" name="flecha-2"/>
          <p:cNvSpPr/>
          <p:nvPr/>
        </p:nvSpPr>
        <p:spPr>
          <a:xfrm>
            <a:off x="6690208" y="2103120"/>
            <a:ext cx="108196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090008" y="2788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Embeddings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090008" y="3246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Representaciones single y pair del Evoformer de AlphaFold2</a:t>
            </a:r>
            <a:endParaRPr lang="en-US" sz="1400" dirty="0"/>
          </a:p>
        </p:txBody>
      </p:sp>
      <p:sp>
        <p:nvSpPr>
          <p:cNvPr id="18" name="paso-3-circulo"/>
          <p:cNvSpPr/>
          <p:nvPr/>
        </p:nvSpPr>
        <p:spPr>
          <a:xfrm>
            <a:off x="7863611" y="160020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-3-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071" y="1851660"/>
            <a:ext cx="502920" cy="502920"/>
          </a:xfrm>
          <a:prstGeom prst="rect">
            <a:avLst/>
          </a:prstGeom>
        </p:spPr>
      </p:pic>
      <p:sp>
        <p:nvSpPr>
          <p:cNvPr id="20" name="flecha-3"/>
          <p:cNvSpPr/>
          <p:nvPr/>
        </p:nvSpPr>
        <p:spPr>
          <a:xfrm>
            <a:off x="8960891" y="2103120"/>
            <a:ext cx="108196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7360691" y="2788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Difusión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60691" y="3246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Elimina ruido de la posición y orientación de cada residuo</a:t>
            </a:r>
            <a:endParaRPr lang="en-US" sz="1400" dirty="0"/>
          </a:p>
        </p:txBody>
      </p:sp>
      <p:sp>
        <p:nvSpPr>
          <p:cNvPr id="23" name="paso-4-circulo"/>
          <p:cNvSpPr/>
          <p:nvPr/>
        </p:nvSpPr>
        <p:spPr>
          <a:xfrm>
            <a:off x="10134295" y="160020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4" name="paso-4-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5755" y="185166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631375" y="2788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Ensamble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9631375" y="3246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N estructuras de backbone, filtradas por calidad</a:t>
            </a:r>
            <a:endParaRPr lang="en-US" sz="1400" dirty="0"/>
          </a:p>
        </p:txBody>
      </p:sp>
      <p:sp>
        <p:nvSpPr>
          <p:cNvPr id="27" name="nota-difusion"/>
          <p:cNvSpPr/>
          <p:nvPr/>
        </p:nvSpPr>
        <p:spPr>
          <a:xfrm>
            <a:off x="548640" y="457200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68680" y="4709160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Idea central: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cada residuo se representa como un marco rígido (traslación + rotación). El modelo parte de ruido aleatorio y, mediante pasos sucesivos de eliminación de ruido condicionados por los embeddings, llega a una estructura plausible. Repetir con otra semilla da otra muestra del ensamble.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en tres etapas</a:t>
            </a:r>
            <a:endParaRPr lang="en-US" sz="3200" dirty="0"/>
          </a:p>
        </p:txBody>
      </p:sp>
      <p:sp>
        <p:nvSpPr>
          <p:cNvPr id="3" name="etapa-1"/>
          <p:cNvSpPr/>
          <p:nvPr/>
        </p:nvSpPr>
        <p:spPr>
          <a:xfrm>
            <a:off x="548640" y="141732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etapa-1-circulo"/>
          <p:cNvSpPr/>
          <p:nvPr/>
        </p:nvSpPr>
        <p:spPr>
          <a:xfrm>
            <a:off x="868680" y="169164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etapa-1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188595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18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Etapa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Preentrenamiento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600200"/>
            <a:ext cx="5928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Estructuras de la AlphaFold DB, agrupadas para cubrir la diversidad de conformaciones de cada familia.</a:t>
            </a:r>
            <a:endParaRPr lang="en-US" sz="1500" dirty="0"/>
          </a:p>
        </p:txBody>
      </p:sp>
      <p:sp>
        <p:nvSpPr>
          <p:cNvPr id="9" name="etapa-2"/>
          <p:cNvSpPr/>
          <p:nvPr/>
        </p:nvSpPr>
        <p:spPr>
          <a:xfrm>
            <a:off x="548640" y="297180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tapa-2-circulo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etapa-2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990" y="34404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20240" y="3172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Etapa 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920240" y="3474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Ajuste con dinámica molecular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3154680"/>
            <a:ext cx="5928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Más de 200 ms de simulaciones MD, para que las poblaciones reflejen el equilibrio termodinámico.</a:t>
            </a:r>
            <a:endParaRPr lang="en-US" sz="1500" dirty="0"/>
          </a:p>
        </p:txBody>
      </p:sp>
      <p:sp>
        <p:nvSpPr>
          <p:cNvPr id="15" name="etapa-3"/>
          <p:cNvSpPr/>
          <p:nvPr/>
        </p:nvSpPr>
        <p:spPr>
          <a:xfrm>
            <a:off x="548640" y="452628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tapa-3-circulo"/>
          <p:cNvSpPr/>
          <p:nvPr/>
        </p:nvSpPr>
        <p:spPr>
          <a:xfrm>
            <a:off x="868680" y="4800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etapa-3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4994910"/>
            <a:ext cx="388620" cy="3886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920240" y="47274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Etapa 3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92024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Ajuste con experimentos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4709160"/>
            <a:ext cx="5928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Estabilidades de plegamiento medidas, para que la fracción plegada/desplegada concuerde con ΔG experimental.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Versiones del checkpoint: bioemu-v1.0 (preprint), bioemu-v1.1 (artículo en Science, usado aquí), bioemu-v1.2 (más MD y datos experimentales).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Entradas: una secuencia y unos pocos parámetros</a:t>
            </a:r>
            <a:endParaRPr lang="en-US" sz="3200" dirty="0"/>
          </a:p>
        </p:txBody>
      </p:sp>
      <p:graphicFrame>
        <p:nvGraphicFramePr>
          <p:cNvPr id="8" name="tabla-entrad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1920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usado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Secuencia, archivo .fasta o .a3m (con MSA propio)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lbpchey_model0.fasta (339 aa)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num_samples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Estructuras a generar antes del filtro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batch_size_100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 para 100 aa; se escala por (100/L)²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→ lote efectivo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model_name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Checkpoint: bioemu-v1.0, v1.1 o v1.2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bioemu-v1.1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filter_samples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 choques y cadenas rotas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output_dir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Carpeta de salida; permite reanudar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bioemu/lbpchey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digo"/>
          <p:cNvSpPr/>
          <p:nvPr/>
        </p:nvSpPr>
        <p:spPr>
          <a:xfrm>
            <a:off x="7818120" y="1417320"/>
            <a:ext cx="3824935" cy="3328416"/>
          </a:xfrm>
          <a:prstGeom prst="roundRect">
            <a:avLst>
              <a:gd name="adj" fmla="val 21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Comando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1965960"/>
            <a:ext cx="32762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bioemu.sample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--sequence lbpchey_model0.fasta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--num_samples 300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--batch_size_100 10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--output_dir bioemu/lbpchey</a:t>
            </a:r>
            <a:endParaRPr lang="en-US" sz="1100" dirty="0"/>
          </a:p>
        </p:txBody>
      </p:sp>
      <p:sp>
        <p:nvSpPr>
          <p:cNvPr id="7" name="nota-entrada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507492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secuencia se extrajo del modelo 0 de AlphaFold3.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BioEmu no usa coordenadas de entrada: el modelo de AF3 sirve como fuente de la secuencia y como referencia para el análisis.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Salidas: del backbone al ensamble con todos los átomos</a:t>
            </a:r>
            <a:endParaRPr lang="en-US" sz="3200" dirty="0"/>
          </a:p>
        </p:txBody>
      </p:sp>
      <p:graphicFrame>
        <p:nvGraphicFramePr>
          <p:cNvPr id="9" name="tabla-salid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754880"/>
                <a:gridCol w="304769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Generado por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topology.pdb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Topología del backbone (N, CA, C, 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bioemu.sample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samples.xtc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Coordenadas de las 246 muestras filtradas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bioemu.sample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batch_*.npz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Lotes crudos; permiten reanudar el muestreo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bioemu.sample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samples_sidechain_rec.pdb / .xtc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Cadenas laterales reconstruidas con HPacker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bioemu.sidechain_relax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samples_md_equil.pdb / .xtc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Ensamble minimizado con OpenMM (átomos pesados)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bioemu.sidechain_relax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Archivos derivados del análisis</a:t>
            </a:r>
            <a:endParaRPr lang="en-US" sz="1500" dirty="0"/>
          </a:p>
        </p:txBody>
      </p:sp>
      <p:sp>
        <p:nvSpPr>
          <p:cNvPr id="5" name="derivado-0"/>
          <p:cNvSpPr/>
          <p:nvPr/>
        </p:nvSpPr>
        <p:spPr>
          <a:xfrm>
            <a:off x="548640" y="4983480"/>
            <a:ext cx="35204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erivado-0-circulo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derivado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949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120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rmsd_lobulos.png · apertura_lobulos.png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5623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Histogramas del análisis</a:t>
            </a:r>
            <a:endParaRPr lang="en-US" sz="1200" dirty="0"/>
          </a:p>
        </p:txBody>
      </p:sp>
      <p:sp>
        <p:nvSpPr>
          <p:cNvPr id="10" name="derivado-1"/>
          <p:cNvSpPr/>
          <p:nvPr/>
        </p:nvSpPr>
        <p:spPr>
          <a:xfrm>
            <a:off x="4343400" y="4983480"/>
            <a:ext cx="35204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derivado-1-circulo"/>
          <p:cNvSpPr/>
          <p:nvPr/>
        </p:nvSpPr>
        <p:spPr>
          <a:xfrm>
            <a:off x="4572000" y="5257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derivado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3949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57800" y="5120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repr_cerrada / mediana / abierta.pdb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257800" y="5623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Estructuras representativas</a:t>
            </a:r>
            <a:endParaRPr lang="en-US" sz="1200" dirty="0"/>
          </a:p>
        </p:txBody>
      </p:sp>
      <p:sp>
        <p:nvSpPr>
          <p:cNvPr id="15" name="derivado-2"/>
          <p:cNvSpPr/>
          <p:nvPr/>
        </p:nvSpPr>
        <p:spPr>
          <a:xfrm>
            <a:off x="8138160" y="4983480"/>
            <a:ext cx="35204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erivado-2-circulo"/>
          <p:cNvSpPr/>
          <p:nvPr/>
        </p:nvSpPr>
        <p:spPr>
          <a:xfrm>
            <a:off x="8366760" y="5257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derivado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53949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52560" y="5120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ensamble_lbpchey.pdb.gz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52560" y="5623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246 modelos ordenados para PyMOL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completo: unas 4 horas en una GPU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1394460" y="2103120"/>
            <a:ext cx="9402775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hito-0"/>
          <p:cNvSpPr/>
          <p:nvPr/>
        </p:nvSpPr>
        <p:spPr>
          <a:xfrm>
            <a:off x="1120140" y="1828800"/>
            <a:ext cx="548640" cy="54864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AlphaFold3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Modelo 0 · pTM 0.81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web</a:t>
            </a:r>
            <a:endParaRPr lang="en-US" sz="1500" dirty="0"/>
          </a:p>
        </p:txBody>
      </p:sp>
      <p:sp>
        <p:nvSpPr>
          <p:cNvPr id="9" name="hito-1"/>
          <p:cNvSpPr/>
          <p:nvPr/>
        </p:nvSpPr>
        <p:spPr>
          <a:xfrm>
            <a:off x="3000695" y="1828800"/>
            <a:ext cx="548640" cy="54864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00695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429195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MSA + embeddings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429195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ColabFold + AF2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429195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~20 min</a:t>
            </a:r>
            <a:endParaRPr lang="en-US" sz="1500" dirty="0"/>
          </a:p>
        </p:txBody>
      </p:sp>
      <p:sp>
        <p:nvSpPr>
          <p:cNvPr id="14" name="hito-2"/>
          <p:cNvSpPr/>
          <p:nvPr/>
        </p:nvSpPr>
        <p:spPr>
          <a:xfrm>
            <a:off x="4881250" y="1828800"/>
            <a:ext cx="548640" cy="54864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8125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30975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Muestreo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09750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300 → 246 tras filtro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09750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~17 min</a:t>
            </a:r>
            <a:endParaRPr lang="en-US" sz="1500" dirty="0"/>
          </a:p>
        </p:txBody>
      </p:sp>
      <p:sp>
        <p:nvSpPr>
          <p:cNvPr id="19" name="hito-3"/>
          <p:cNvSpPr/>
          <p:nvPr/>
        </p:nvSpPr>
        <p:spPr>
          <a:xfrm>
            <a:off x="6761805" y="1828800"/>
            <a:ext cx="548640" cy="54864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1805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190305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Cadenas laterales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190305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HPacker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190305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h 30 min</a:t>
            </a:r>
            <a:endParaRPr lang="en-US" sz="1500" dirty="0"/>
          </a:p>
        </p:txBody>
      </p:sp>
      <p:sp>
        <p:nvSpPr>
          <p:cNvPr id="24" name="hito-4"/>
          <p:cNvSpPr/>
          <p:nvPr/>
        </p:nvSpPr>
        <p:spPr>
          <a:xfrm>
            <a:off x="8642360" y="1828800"/>
            <a:ext cx="548640" cy="54864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23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07086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Minimización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070860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OpenMM, solvente explícito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70860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 h 07 min</a:t>
            </a:r>
            <a:endParaRPr lang="en-US" sz="1500" dirty="0"/>
          </a:p>
        </p:txBody>
      </p:sp>
      <p:sp>
        <p:nvSpPr>
          <p:cNvPr id="29" name="hito-5"/>
          <p:cNvSpPr/>
          <p:nvPr/>
        </p:nvSpPr>
        <p:spPr>
          <a:xfrm>
            <a:off x="10522915" y="1828800"/>
            <a:ext cx="548640" cy="54864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22915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951415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Análisis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951415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RMSD, apertura, PyMOL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951415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&lt; 1 min</a:t>
            </a:r>
            <a:endParaRPr lang="en-US" sz="1500" dirty="0"/>
          </a:p>
        </p:txBody>
      </p:sp>
      <p:sp>
        <p:nvSpPr>
          <p:cNvPr id="34" name="scripts"/>
          <p:cNvSpPr/>
          <p:nvPr/>
        </p:nvSpPr>
        <p:spPr>
          <a:xfrm>
            <a:off x="548640" y="470916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" y="4800600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run_bioemu.sh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pasos 1–4 (instala el entorno si falta, extrae la secuencia, muestrea y relaja)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analiza_ensamble.py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RMSD por lóbulo, apertura y representativas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prepara_visualizacion.py · ver_ensamble.pml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ensamble ordenado y película en PyMOL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LBPCheY: un dominio CheY insertado en LBP</a:t>
            </a:r>
            <a:endParaRPr lang="en-US" sz="3200" dirty="0"/>
          </a:p>
        </p:txBody>
      </p:sp>
      <p:sp>
        <p:nvSpPr>
          <p:cNvPr id="3" name="dominio-0"/>
          <p:cNvSpPr/>
          <p:nvPr/>
        </p:nvSpPr>
        <p:spPr>
          <a:xfrm>
            <a:off x="548640" y="1691640"/>
            <a:ext cx="2265770" cy="502920"/>
          </a:xfrm>
          <a:prstGeom prst="rect">
            <a:avLst/>
          </a:prstGeom>
          <a:solidFill>
            <a:schemeClr val="accent4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22657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LBP  1–140</a:t>
            </a:r>
            <a:endParaRPr lang="en-US" sz="1300" dirty="0"/>
          </a:p>
        </p:txBody>
      </p:sp>
      <p:sp>
        <p:nvSpPr>
          <p:cNvPr id="5" name="dominio-1"/>
          <p:cNvSpPr/>
          <p:nvPr/>
        </p:nvSpPr>
        <p:spPr>
          <a:xfrm>
            <a:off x="2814410" y="1691640"/>
            <a:ext cx="1666959" cy="50292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14410" y="2286000"/>
            <a:ext cx="1666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CheY  141–243</a:t>
            </a:r>
            <a:endParaRPr lang="en-US" sz="1300" dirty="0"/>
          </a:p>
        </p:txBody>
      </p:sp>
      <p:sp>
        <p:nvSpPr>
          <p:cNvPr id="7" name="dominio-2"/>
          <p:cNvSpPr/>
          <p:nvPr/>
        </p:nvSpPr>
        <p:spPr>
          <a:xfrm>
            <a:off x="4481369" y="1691640"/>
            <a:ext cx="1553671" cy="50292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1369" y="2286000"/>
            <a:ext cx="155367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LBP  244–339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Mapa de dominios (339 residuos)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80360"/>
            <a:ext cx="5486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La pregunta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lóbulo pliega bien por separado, pero ¿se mueven uno respecto al otro?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Según el artículo de la quimera, el cristal muestra una orientación entre lóbulos distinta a la del diseño, y la calorimetría (DSC) sugiere un desplegamiento en dos etapas. Un ensamble permite explorar esa flexibilidad, que un modelo estático no muestra.</a:t>
            </a:r>
            <a:endParaRPr lang="en-US" sz="1600" dirty="0"/>
          </a:p>
        </p:txBody>
      </p:sp>
      <p:pic>
        <p:nvPicPr>
          <p:cNvPr id="11" name="modelo-af3-2" descr="af3_dominios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417320"/>
            <a:ext cx="5212080" cy="3541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00800" y="50749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Modelo 0 de AlphaFold3 (pTM 0.81)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lóbulo conserva el plegamiento del modelo AF3</a:t>
            </a:r>
            <a:endParaRPr lang="en-US" sz="3200" dirty="0"/>
          </a:p>
        </p:txBody>
      </p:sp>
      <p:sp>
        <p:nvSpPr>
          <p:cNvPr id="3" name="rmsd-CheY"/>
          <p:cNvSpPr/>
          <p:nvPr/>
        </p:nvSpPr>
        <p:spPr>
          <a:xfrm>
            <a:off x="548640" y="146304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RMSD CheY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945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</a:t>
            </a:r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Å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± 0.30 Å · mediana 0.73 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Prácticamente rígido en todo el ensamble</a:t>
            </a:r>
            <a:endParaRPr lang="en-US" sz="1400" dirty="0"/>
          </a:p>
        </p:txBody>
      </p:sp>
      <p:sp>
        <p:nvSpPr>
          <p:cNvPr id="8" name="rmsd-LBP"/>
          <p:cNvSpPr/>
          <p:nvPr/>
        </p:nvSpPr>
        <p:spPr>
          <a:xfrm>
            <a:off x="4343400" y="146304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RMSD LBP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945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2.30</a:t>
            </a:r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Å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± 1.87 Å · mediana 1.83 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7947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86.2% de las muestras &lt; 3 Å; 12 muestras &gt; 5 Å</a:t>
            </a:r>
            <a:endParaRPr lang="en-US" sz="1400" dirty="0"/>
          </a:p>
        </p:txBody>
      </p:sp>
      <p:sp>
        <p:nvSpPr>
          <p:cNvPr id="13" name="rmsd-Global"/>
          <p:cNvSpPr/>
          <p:nvPr/>
        </p:nvSpPr>
        <p:spPr>
          <a:xfrm>
            <a:off x="8138160" y="146304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1737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RMSD Global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1945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3.56</a:t>
            </a:r>
            <a:pPr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Å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± 2.32 Å · mediana 2.88 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37947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Mayor que cada lóbulo: hay movimiento entre ellos</a:t>
            </a:r>
            <a:endParaRPr lang="en-US" sz="1400" dirty="0"/>
          </a:p>
        </p:txBody>
      </p:sp>
      <p:sp>
        <p:nvSpPr>
          <p:cNvPr id="18" name="lectura-rmsd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512064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RMSD bajo en cada lóbulo y más alto en la estructura completa indica que ambos dominios pliegan bien y que lo que cambia es su orientación relativa.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lóbulos se abren y cierran en un rango de 13 Å</a:t>
            </a:r>
            <a:endParaRPr lang="en-US" sz="3200" dirty="0"/>
          </a:p>
        </p:txBody>
      </p:sp>
      <p:graphicFrame>
        <p:nvGraphicFramePr>
          <p:cNvPr id="3" name="histograma-apertura" descr=""/>
          <p:cNvGraphicFramePr/>
          <p:nvPr/>
        </p:nvGraphicFramePr>
        <p:xfrm>
          <a:off x="548640" y="137160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pertura-0"/>
          <p:cNvSpPr/>
          <p:nvPr/>
        </p:nvSpPr>
        <p:spPr>
          <a:xfrm>
            <a:off x="8092440" y="1463040"/>
            <a:ext cx="355061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66760" y="160020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27.9 Å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8366760" y="228600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 del ensamble (± 2.0)</a:t>
            </a:r>
            <a:endParaRPr lang="en-US" sz="1400" dirty="0"/>
          </a:p>
        </p:txBody>
      </p:sp>
      <p:sp>
        <p:nvSpPr>
          <p:cNvPr id="7" name="apertura-1"/>
          <p:cNvSpPr/>
          <p:nvPr/>
        </p:nvSpPr>
        <p:spPr>
          <a:xfrm>
            <a:off x="8092440" y="2971800"/>
            <a:ext cx="355061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310896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– 36 Å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379476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rango observado</a:t>
            </a:r>
            <a:endParaRPr lang="en-US" sz="1400" dirty="0"/>
          </a:p>
        </p:txBody>
      </p:sp>
      <p:sp>
        <p:nvSpPr>
          <p:cNvPr id="10" name="apertura-2"/>
          <p:cNvSpPr/>
          <p:nvPr/>
        </p:nvSpPr>
        <p:spPr>
          <a:xfrm>
            <a:off x="8092440" y="4480560"/>
            <a:ext cx="355061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66760" y="461772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27.8 Å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530352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de AlphaFold3: cae en el centro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LBP fijo, CheY se desplaza entre conformaciones</a:t>
            </a:r>
            <a:endParaRPr lang="en-US" sz="3200" dirty="0"/>
          </a:p>
        </p:txBody>
      </p:sp>
      <p:pic>
        <p:nvPicPr>
          <p:cNvPr id="3" name="ensamble-encimado" descr="ensamble_overlay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400800" cy="456425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8 estructuras del ensamble, de la más cerrada a la más abierta, alineadas sobre LBP</a:t>
            </a:r>
            <a:endParaRPr lang="en-US" sz="1200" dirty="0"/>
          </a:p>
        </p:txBody>
      </p:sp>
      <p:sp>
        <p:nvSpPr>
          <p:cNvPr id="5" name="pymol"/>
          <p:cNvSpPr/>
          <p:nvPr/>
        </p:nvSpPr>
        <p:spPr>
          <a:xfrm>
            <a:off x="7315200" y="1417320"/>
            <a:ext cx="4327855" cy="4526280"/>
          </a:xfrm>
          <a:prstGeom prst="roundRect">
            <a:avLst>
              <a:gd name="adj" fmla="val 1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8952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Verlo en PyMOL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05740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pymol visualizacion/ver_ensamble.pml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60604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mplay / mstop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953512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película cerrada → abierta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34747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all_states, on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822192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246 estados encimados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34340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 mediana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4690872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mostrar una representativa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074920"/>
            <a:ext cx="3779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Las muestras son independientes, no una trayectoria: la película ordenada muestra la tendencia, no un camino temporal.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tener en cuenta al interpretar el ensamble</a:t>
            </a:r>
            <a:endParaRPr lang="en-US" sz="3200" dirty="0"/>
          </a:p>
        </p:txBody>
      </p:sp>
      <p:sp>
        <p:nvSpPr>
          <p:cNvPr id="3" name="limite-0"/>
          <p:cNvSpPr/>
          <p:nvPr/>
        </p:nvSpPr>
        <p:spPr>
          <a:xfrm>
            <a:off x="548640" y="141732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ite-0-circulo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limite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9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Sin información temporal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984248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muestras son del equilibrio; no dan cinéticas ni rutas de transición.</a:t>
            </a:r>
            <a:endParaRPr lang="en-US" sz="1400" dirty="0"/>
          </a:p>
        </p:txBody>
      </p:sp>
      <p:sp>
        <p:nvSpPr>
          <p:cNvPr id="8" name="limite-1"/>
          <p:cNvSpPr/>
          <p:nvPr/>
        </p:nvSpPr>
        <p:spPr>
          <a:xfrm>
            <a:off x="6233008" y="141732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ite-1-circulo"/>
          <p:cNvSpPr/>
          <p:nvPr/>
        </p:nvSpPr>
        <p:spPr>
          <a:xfrm>
            <a:off x="6507328" y="17373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limite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21728" y="1600200"/>
            <a:ext cx="399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Solo backbone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421728" y="1984248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cadenas laterales se reconstruyen después con HPacker y OpenMM.</a:t>
            </a:r>
            <a:endParaRPr lang="en-US" sz="1400" dirty="0"/>
          </a:p>
        </p:txBody>
      </p:sp>
      <p:sp>
        <p:nvSpPr>
          <p:cNvPr id="13" name="limite-2"/>
          <p:cNvSpPr/>
          <p:nvPr/>
        </p:nvSpPr>
        <p:spPr>
          <a:xfrm>
            <a:off x="548640" y="297180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mite-2-circulo"/>
          <p:cNvSpPr/>
          <p:nvPr/>
        </p:nvSpPr>
        <p:spPr>
          <a:xfrm>
            <a:off x="822960" y="32918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limite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346329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3154680"/>
            <a:ext cx="399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Una sola cadena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737360" y="3538728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modela complejos, ligandos ni cofactores.</a:t>
            </a:r>
            <a:endParaRPr lang="en-US" sz="1400" dirty="0"/>
          </a:p>
        </p:txBody>
      </p:sp>
      <p:sp>
        <p:nvSpPr>
          <p:cNvPr id="18" name="limite-3"/>
          <p:cNvSpPr/>
          <p:nvPr/>
        </p:nvSpPr>
        <p:spPr>
          <a:xfrm>
            <a:off x="6233008" y="297180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limite-3-circulo"/>
          <p:cNvSpPr/>
          <p:nvPr/>
        </p:nvSpPr>
        <p:spPr>
          <a:xfrm>
            <a:off x="6507328" y="32918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limite-3-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778" y="346329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21728" y="3154680"/>
            <a:ext cx="399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Filtro de calidad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421728" y="3538728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descartaron 54 de 300 muestras (18%) por choques o cadena rota.</a:t>
            </a:r>
            <a:endParaRPr lang="en-US" sz="1400" dirty="0"/>
          </a:p>
        </p:txBody>
      </p:sp>
      <p:sp>
        <p:nvSpPr>
          <p:cNvPr id="23" name="limite-4"/>
          <p:cNvSpPr/>
          <p:nvPr/>
        </p:nvSpPr>
        <p:spPr>
          <a:xfrm>
            <a:off x="548640" y="452628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limite-4-circulo"/>
          <p:cNvSpPr/>
          <p:nvPr/>
        </p:nvSpPr>
        <p:spPr>
          <a:xfrm>
            <a:off x="822960" y="48463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limite-4-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" y="501777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737360" y="4709160"/>
            <a:ext cx="399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 del MSA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1737360" y="5093208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calidad de los embeddings depende del alineamiento de ColabFold.</a:t>
            </a:r>
            <a:endParaRPr lang="en-US" sz="1400" dirty="0"/>
          </a:p>
        </p:txBody>
      </p:sp>
      <p:sp>
        <p:nvSpPr>
          <p:cNvPr id="28" name="limite-5"/>
          <p:cNvSpPr/>
          <p:nvPr/>
        </p:nvSpPr>
        <p:spPr>
          <a:xfrm>
            <a:off x="6233008" y="452628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limite-5-circulo"/>
          <p:cNvSpPr/>
          <p:nvPr/>
        </p:nvSpPr>
        <p:spPr>
          <a:xfrm>
            <a:off x="6507328" y="48463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limite-5-i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8778" y="501777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21728" y="4709160"/>
            <a:ext cx="399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Costo práctico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7421728" y="5093208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Embeddings en CPU (~20 min) y relajación en un hilo (~3.5 h).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siguientes pasos</a:t>
            </a:r>
            <a:endParaRPr lang="en-US" sz="3600" dirty="0"/>
          </a:p>
        </p:txBody>
      </p:sp>
      <p:sp>
        <p:nvSpPr>
          <p:cNvPr id="3" name="conclusion-0"/>
          <p:cNvSpPr/>
          <p:nvPr/>
        </p:nvSpPr>
        <p:spPr>
          <a:xfrm>
            <a:off x="548640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FFFFF">
              <a:alpha val="8000"/>
            </a:srgb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Lóbulos estables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CheY (0.8 Å) y LBP (mediana 1.8 Å) conservan el plegamiento del modelo de AlphaFold3.</a:t>
            </a:r>
            <a:endParaRPr lang="en-US" sz="1400" dirty="0"/>
          </a:p>
        </p:txBody>
      </p:sp>
      <p:sp>
        <p:nvSpPr>
          <p:cNvPr id="7" name="conclusion-1"/>
          <p:cNvSpPr/>
          <p:nvPr/>
        </p:nvSpPr>
        <p:spPr>
          <a:xfrm>
            <a:off x="4343400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FFFFF">
              <a:alpha val="8000"/>
            </a:srgb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4231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Bisagra flexible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88036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distancia entre lóbulos varía de 23 a 36 Å: apoya la idea de una orientación relativa variable, aún por contrastar con el cristal.</a:t>
            </a:r>
            <a:endParaRPr lang="en-US" sz="1400" dirty="0"/>
          </a:p>
        </p:txBody>
      </p:sp>
      <p:sp>
        <p:nvSpPr>
          <p:cNvPr id="11" name="conclusion-2"/>
          <p:cNvSpPr/>
          <p:nvPr/>
        </p:nvSpPr>
        <p:spPr>
          <a:xfrm>
            <a:off x="8138160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FFFFF">
              <a:alpha val="8000"/>
            </a:srgb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5820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24231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Pipeline reproducible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288036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Scripts, tutorial y resultados en un repositorio. Cerca de 4 h en una GPU.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Siguientes pasos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Comparar el ensamble con la estructura cristalográfica (8Q52)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Correr la variante LBPCheY-dbb y más muestras (1000) para mejorar la estadística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Inspeccionar las muestras de LBP con RMSD &gt; 5 Å (posible desplegamiento local)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y recursos</a:t>
            </a:r>
            <a:endParaRPr lang="en-US" sz="3200" dirty="0"/>
          </a:p>
        </p:txBody>
      </p:sp>
      <p:sp>
        <p:nvSpPr>
          <p:cNvPr id="3" name="ref-0-circulo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ref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68021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417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Artículo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80136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Lewis S. et al. Scalable emulation of protein equilibrium ensembles with generative deep learning. Science 389 (2025). doi:10.1126/science.adv9817</a:t>
            </a:r>
            <a:endParaRPr lang="en-US" sz="1400" dirty="0"/>
          </a:p>
        </p:txBody>
      </p:sp>
      <p:sp>
        <p:nvSpPr>
          <p:cNvPr id="7" name="ref-1-circulo"/>
          <p:cNvSpPr/>
          <p:nvPr/>
        </p:nvSpPr>
        <p:spPr>
          <a:xfrm>
            <a:off x="548640" y="26517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ref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82321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560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Código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294436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github.com/microsoft/bioemu · pesos en huggingface.co/microsoft/bioemu (licencia MIT)</a:t>
            </a:r>
            <a:endParaRPr lang="en-US" sz="1400" dirty="0"/>
          </a:p>
        </p:txBody>
      </p:sp>
      <p:sp>
        <p:nvSpPr>
          <p:cNvPr id="11" name="ref-2-circulo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ref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96621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703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Estructura de partida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408736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AlphaFold Server (AlphaFold3). Salida sujeta a los AlphaFold Server Output Terms of Use, uso no comercial.</a:t>
            </a:r>
            <a:endParaRPr lang="en-US" sz="1400" dirty="0"/>
          </a:p>
        </p:txBody>
      </p:sp>
      <p:sp>
        <p:nvSpPr>
          <p:cNvPr id="15" name="ref-3-circulo"/>
          <p:cNvSpPr/>
          <p:nvPr/>
        </p:nvSpPr>
        <p:spPr>
          <a:xfrm>
            <a:off x="548640" y="493776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ref-3-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90" y="5109210"/>
            <a:ext cx="342900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846320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Este trabajo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523036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Repositorio jtuxman/lbpchey-bioemu: scripts, TUTORIAL.md, ensamble y figuras.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Emu LBPCheY">
  <a:themeElements>
    <a:clrScheme name="BioEmu LBPCheY">
      <a:dk1>
        <a:srgbClr val="1B2430"/>
      </a:dk1>
      <a:lt1>
        <a:srgbClr val="FFFFFF"/>
      </a:lt1>
      <a:dk2>
        <a:srgbClr val="13233A"/>
      </a:dk2>
      <a:lt2>
        <a:srgbClr val="EEF2F5"/>
      </a:lt2>
      <a:accent1>
        <a:srgbClr val="E8792B"/>
      </a:accent1>
      <a:accent2>
        <a:srgbClr val="5B6B78"/>
      </a:accent2>
      <a:accent3>
        <a:srgbClr val="2A9D8F"/>
      </a:accent3>
      <a:accent4>
        <a:srgbClr val="9AA7B2"/>
      </a:accent4>
      <a:accent5>
        <a:srgbClr val="F4C59E"/>
      </a:accent5>
      <a:accent6>
        <a:srgbClr val="264653"/>
      </a:accent6>
      <a:hlink>
        <a:srgbClr val="2A9D8F"/>
      </a:hlink>
      <a:folHlink>
        <a:srgbClr val="5B6B78"/>
      </a:folHlink>
    </a:clrScheme>
    <a:fontScheme name="BioEmu LBPChe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BioEmu: ensambles conformacionales de LBPCheY</dc:title>
  <dc:subject>PptxGenJS Presentation</dc:subject>
  <dc:creator>jtuxman</dc:creator>
  <cp:lastModifiedBy>jtuxman</cp:lastModifiedBy>
  <cp:revision>1</cp:revision>
  <dcterms:created xsi:type="dcterms:W3CDTF">2026-10-08T15:02:32Z</dcterms:created>
  <dcterms:modified xsi:type="dcterms:W3CDTF">2026-10-08T15:02:32Z</dcterms:modified>
</cp:coreProperties>
</file>