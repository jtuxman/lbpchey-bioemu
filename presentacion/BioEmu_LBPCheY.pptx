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0cc5084e-2ec1-8d51-24a9-ba5d3491c280}">
          <p14:sldIdLst>
            <p14:sldId id="256"/>
            <p14:sldId id="257"/>
          </p14:sldIdLst>
        </p14:section>
        <p14:section name="BioEmu" id="{7482f73f-05fc-8566-0703-e73098316985}">
          <p14:sldIdLst>
            <p14:sldId id="258"/>
            <p14:sldId id="259"/>
            <p14:sldId id="260"/>
            <p14:sldId id="261"/>
          </p14:sldIdLst>
        </p14:section>
        <p14:section name="Entradas y salidas" id="{4ba187f2-78e4-95cb-c362-f6fed13e6021}">
          <p14:sldIdLst>
            <p14:sldId id="262"/>
            <p14:sldId id="263"/>
          </p14:sldIdLst>
        </p14:section>
        <p14:section name="Caso LBPCheY" id="{efbaa07c-78a5-2c1a-bcf0-ddd8e4b59081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Conclusiones" id="{9ebdc98f-6dac-ec81-117d-442c89c70c81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3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233A"/>
                </a:solidFill>
                <a:latin typeface="+mn-lt"/>
              </a:rPr>
              <a:t>Distancia entre centros de los lóbulos (Å)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Estructuras</c:v>
                </c:pt>
              </c:strCache>
            </c:strRef>
          </c:tx>
          <c:spPr>
            <a:solidFill>
              <a:srgbClr val="E87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7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22</c:v>
                  </c:pt>
                  <c:pt idx="1">
                    <c:v>23</c:v>
                  </c:pt>
                  <c:pt idx="2">
                    <c:v>24</c:v>
                  </c:pt>
                  <c:pt idx="3">
                    <c:v>25</c:v>
                  </c:pt>
                  <c:pt idx="4">
                    <c:v>26</c:v>
                  </c:pt>
                  <c:pt idx="5">
                    <c:v>27</c:v>
                  </c:pt>
                  <c:pt idx="6">
                    <c:v>28</c:v>
                  </c:pt>
                  <c:pt idx="7">
                    <c:v>29</c:v>
                  </c:pt>
                  <c:pt idx="8">
                    <c:v>30</c:v>
                  </c:pt>
                  <c:pt idx="9">
                    <c:v>31</c:v>
                  </c:pt>
                  <c:pt idx="10">
                    <c:v>32</c:v>
                  </c:pt>
                  <c:pt idx="11">
                    <c:v>33</c:v>
                  </c:pt>
                  <c:pt idx="12">
                    <c:v>34</c:v>
                  </c:pt>
                  <c:pt idx="13">
                    <c:v>35</c:v>
                  </c:pt>
                  <c:pt idx="14">
                    <c:v>36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</c:v>
                </c:pt>
                <c:pt idx="1">
                  <c:v>0</c:v>
                </c:pt>
                <c:pt idx="2">
                  <c:v>8</c:v>
                </c:pt>
                <c:pt idx="3">
                  <c:v>28</c:v>
                </c:pt>
                <c:pt idx="4">
                  <c:v>58</c:v>
                </c:pt>
                <c:pt idx="5">
                  <c:v>48</c:v>
                </c:pt>
                <c:pt idx="6">
                  <c:v>42</c:v>
                </c:pt>
                <c:pt idx="7">
                  <c:v>30</c:v>
                </c:pt>
                <c:pt idx="8">
                  <c:v>13</c:v>
                </c:pt>
                <c:pt idx="9">
                  <c:v>8</c:v>
                </c:pt>
                <c:pt idx="10">
                  <c:v>6</c:v>
                </c:pt>
                <c:pt idx="11">
                  <c:v>0</c:v>
                </c:pt>
                <c:pt idx="12">
                  <c:v>3</c:v>
                </c:pt>
                <c:pt idx="13">
                  <c:v>0</c:v>
                </c:pt>
                <c:pt idx="1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B6B7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8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B78"/>
                    </a:solidFill>
                    <a:latin typeface="+mn-lt"/>
                  </a:rPr>
                  <a:t>Å (límite inferior del intervalo de 1 Å)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6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8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B78"/>
                    </a:solidFill>
                    <a:latin typeface="+mn-lt"/>
                  </a:rPr>
                  <a:t>Estructuras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3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233A"/>
                </a:solidFill>
                <a:latin typeface="+mn-lt"/>
              </a:rPr>
              <a:t>Población (% de 246 muestras)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Población</c:v>
                </c:pt>
              </c:strCache>
            </c:strRef>
          </c:tx>
          <c:spPr>
            <a:solidFill>
              <a:srgbClr val="E8792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3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7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6B7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Conf. 1</c:v>
                  </c:pt>
                  <c:pt idx="1">
                    <c:v>Conf. 2</c:v>
                  </c:pt>
                  <c:pt idx="2">
                    <c:v>Conf.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69.9</c:v>
                </c:pt>
                <c:pt idx="1">
                  <c:v>22</c:v>
                </c:pt>
                <c:pt idx="2">
                  <c:v>8.1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3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E1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método BioEmu y su aplicación a la quimera LBPCheY: un dominio CheY insertado en la proteína de unión a leucina.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AlphaFold da una estructura; la MD da ensambles pero es costosa. BioEmu ocupa el espacio intermedio: ensambles de equilibrio a bajo costo.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de AF3 representa bien la apertura típica, pero el ensamble muestra estados más cerrados y más abiertos que un modelo estático no revela.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conformaciones 2 y 3 están a menos de 1.3 kcal/mol (≈2 kT): son accesibles a temperatura ambiente. Silueta ~0.4: más un continuo que estados discretos; con k = 2 queda 77/23%, ΔG 0.71 kcal/mol.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5836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6400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BioEmu · Quimera LBPCheY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BioEmu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Emulación de ensambles conformacionales de proteínas con IA generativa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estudio: la quimera LBPCheY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035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Octubre 2026</a:t>
            </a:r>
            <a:endParaRPr lang="en-US" sz="1400" dirty="0"/>
          </a:p>
        </p:txBody>
      </p:sp>
      <p:pic>
        <p:nvPicPr>
          <p:cNvPr id="5" name="modelo-af3" descr="af3_dominios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417320"/>
            <a:ext cx="4846320" cy="329257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949440" y="4892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Modelo 0 de AlphaFold3 · LBP en gris, CheY en naranja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</a:t>
            </a:r>
            <a:endParaRPr lang="en-US" sz="3200" dirty="0"/>
          </a:p>
        </p:txBody>
      </p:sp>
      <p:sp>
        <p:nvSpPr>
          <p:cNvPr id="3" name="agenda-01"/>
          <p:cNvSpPr/>
          <p:nvPr/>
        </p:nvSpPr>
        <p:spPr>
          <a:xfrm>
            <a:off x="548640" y="146304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El problema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Por qué una sola estructura no basta</a:t>
            </a:r>
            <a:endParaRPr lang="en-US" sz="1400" dirty="0"/>
          </a:p>
        </p:txBody>
      </p:sp>
      <p:sp>
        <p:nvSpPr>
          <p:cNvPr id="7" name="agenda-02"/>
          <p:cNvSpPr/>
          <p:nvPr/>
        </p:nvSpPr>
        <p:spPr>
          <a:xfrm>
            <a:off x="4343400" y="146304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737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4688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Qué es BioEmu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Origen, alcance y entrenamiento</a:t>
            </a:r>
            <a:endParaRPr lang="en-US" sz="1400" dirty="0"/>
          </a:p>
        </p:txBody>
      </p:sp>
      <p:sp>
        <p:nvSpPr>
          <p:cNvPr id="11" name="agenda-03"/>
          <p:cNvSpPr/>
          <p:nvPr/>
        </p:nvSpPr>
        <p:spPr>
          <a:xfrm>
            <a:off x="8138160" y="146304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58200" y="1737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24688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Cómo funciona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De la secuencia al ensamble</a:t>
            </a:r>
            <a:endParaRPr lang="en-US" sz="1400" dirty="0"/>
          </a:p>
        </p:txBody>
      </p:sp>
      <p:sp>
        <p:nvSpPr>
          <p:cNvPr id="15" name="agenda-04"/>
          <p:cNvSpPr/>
          <p:nvPr/>
        </p:nvSpPr>
        <p:spPr>
          <a:xfrm>
            <a:off x="548640" y="384048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14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8463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Entradas y salidas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257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Parámetros y archivos generados</a:t>
            </a:r>
            <a:endParaRPr lang="en-US" sz="1400" dirty="0"/>
          </a:p>
        </p:txBody>
      </p:sp>
      <p:sp>
        <p:nvSpPr>
          <p:cNvPr id="19" name="agenda-05"/>
          <p:cNvSpPr/>
          <p:nvPr/>
        </p:nvSpPr>
        <p:spPr>
          <a:xfrm>
            <a:off x="4343400" y="384048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4114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48463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Caso LBPCheY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5257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Pipeline completo y resultados</a:t>
            </a:r>
            <a:endParaRPr lang="en-US" sz="1400" dirty="0"/>
          </a:p>
        </p:txBody>
      </p:sp>
      <p:sp>
        <p:nvSpPr>
          <p:cNvPr id="23" name="agenda-06"/>
          <p:cNvSpPr/>
          <p:nvPr/>
        </p:nvSpPr>
        <p:spPr>
          <a:xfrm>
            <a:off x="8138160" y="384048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58200" y="4114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48463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Conclusiones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458200" y="5257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Limitaciones y siguientes pasos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estructura no describe cómo se mueve una proteína</a:t>
            </a:r>
            <a:endParaRPr lang="en-US" sz="3200" dirty="0"/>
          </a:p>
        </p:txBody>
      </p:sp>
      <p:sp>
        <p:nvSpPr>
          <p:cNvPr id="3" name="opcion-0"/>
          <p:cNvSpPr/>
          <p:nvPr/>
        </p:nvSpPr>
        <p:spPr>
          <a:xfrm>
            <a:off x="548640" y="1463040"/>
            <a:ext cx="3520440" cy="44805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opcion-0-circulo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opcion-0-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97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Predicción estática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108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AlphaFold y similares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6576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Una conformación por modelo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Muy precisa para el estado más probable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informa sobre poblaciones ni flexibilidad</a:t>
            </a:r>
            <a:endParaRPr lang="en-US" sz="1500" dirty="0"/>
          </a:p>
        </p:txBody>
      </p:sp>
      <p:sp>
        <p:nvSpPr>
          <p:cNvPr id="9" name="opcion-1"/>
          <p:cNvSpPr/>
          <p:nvPr/>
        </p:nvSpPr>
        <p:spPr>
          <a:xfrm>
            <a:off x="4343400" y="1463040"/>
            <a:ext cx="3520440" cy="44805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opcion-1-circulo"/>
          <p:cNvSpPr/>
          <p:nvPr/>
        </p:nvSpPr>
        <p:spPr>
          <a:xfrm>
            <a:off x="4663440" y="17830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opcion-1-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659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2697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Dinámica molecular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108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Simulación física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6576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Ensamble con base física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Cambios lentos (µs–ms) cuestan semanas de GPU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Difícil de escalar a muchas proteínas</a:t>
            </a:r>
            <a:endParaRPr lang="en-US" sz="1500" dirty="0"/>
          </a:p>
        </p:txBody>
      </p:sp>
      <p:sp>
        <p:nvSpPr>
          <p:cNvPr id="15" name="opcion-2"/>
          <p:cNvSpPr/>
          <p:nvPr/>
        </p:nvSpPr>
        <p:spPr>
          <a:xfrm>
            <a:off x="8138160" y="1463040"/>
            <a:ext cx="3520440" cy="448056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16" name="opcion-2-circulo"/>
          <p:cNvSpPr/>
          <p:nvPr/>
        </p:nvSpPr>
        <p:spPr>
          <a:xfrm>
            <a:off x="845820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opcion-2-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9659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58200" y="2697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BioEmu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458200" y="3108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Emulador generativo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36576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Ensamble de equilibrio desde la secuencia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Miles de estructuras por hora en una GPU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Muestras estadísticamente independientes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BioEmu: el ensamble de equilibrio desde la secuencia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Modelo generativo de difusión de Microsoft Research (Lewis et al., Science 2025).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Recibe una secuencia de una sola cadena y produce muestras independientes de su ensamble de equilibrio. Captura movimientos funcionales como bolsillos crípticos, desplegamiento local y rearreglos entre dominios.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Código y pesos abiertos (licencia MIT): 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</a:rPr>
              <a:t>github.com/microsoft/bioemu</a:t>
            </a:r>
            <a:endParaRPr lang="en-US" sz="1700" dirty="0"/>
          </a:p>
        </p:txBody>
      </p:sp>
      <p:sp>
        <p:nvSpPr>
          <p:cNvPr id="4" name="dato-0"/>
          <p:cNvSpPr/>
          <p:nvPr/>
        </p:nvSpPr>
        <p:spPr>
          <a:xfrm>
            <a:off x="6172200" y="1463040"/>
            <a:ext cx="5470855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0" y="16459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&gt;200 ms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1645920"/>
            <a:ext cx="24076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 simulaciones de MD integradas en el entrenamiento</a:t>
            </a:r>
            <a:endParaRPr lang="en-US" sz="1500" dirty="0"/>
          </a:p>
        </p:txBody>
      </p:sp>
      <p:sp>
        <p:nvSpPr>
          <p:cNvPr id="7" name="dato-1"/>
          <p:cNvSpPr/>
          <p:nvPr/>
        </p:nvSpPr>
        <p:spPr>
          <a:xfrm>
            <a:off x="6172200" y="2926080"/>
            <a:ext cx="5470855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31089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kcal/mol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3108960"/>
            <a:ext cx="24076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 error en energías libres relativas frente a MD y experimento</a:t>
            </a:r>
            <a:endParaRPr lang="en-US" sz="1500" dirty="0"/>
          </a:p>
        </p:txBody>
      </p:sp>
      <p:sp>
        <p:nvSpPr>
          <p:cNvPr id="10" name="dato-2"/>
          <p:cNvSpPr/>
          <p:nvPr/>
        </p:nvSpPr>
        <p:spPr>
          <a:xfrm>
            <a:off x="6172200" y="4389120"/>
            <a:ext cx="5470855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4572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 / h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4572000"/>
            <a:ext cx="24076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 estructuras independientes en una sola GPU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funciona: de la secuencia al ensamble</a:t>
            </a:r>
            <a:endParaRPr lang="en-US" sz="3200" dirty="0"/>
          </a:p>
        </p:txBody>
      </p:sp>
      <p:sp>
        <p:nvSpPr>
          <p:cNvPr id="3" name="paso-0-circulo"/>
          <p:cNvSpPr/>
          <p:nvPr/>
        </p:nvSpPr>
        <p:spPr>
          <a:xfrm>
            <a:off x="1051560" y="1600200"/>
            <a:ext cx="1005840" cy="10058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paso-0-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1851660"/>
            <a:ext cx="502920" cy="502920"/>
          </a:xfrm>
          <a:prstGeom prst="rect">
            <a:avLst/>
          </a:prstGeom>
        </p:spPr>
      </p:pic>
      <p:sp>
        <p:nvSpPr>
          <p:cNvPr id="5" name="flecha-0"/>
          <p:cNvSpPr/>
          <p:nvPr/>
        </p:nvSpPr>
        <p:spPr>
          <a:xfrm>
            <a:off x="2148840" y="2103120"/>
            <a:ext cx="1081964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548640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Secuencia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Una cadena, en texto o FASTA</a:t>
            </a:r>
            <a:endParaRPr lang="en-US" sz="1400" dirty="0"/>
          </a:p>
        </p:txBody>
      </p:sp>
      <p:sp>
        <p:nvSpPr>
          <p:cNvPr id="8" name="paso-1-circulo"/>
          <p:cNvSpPr/>
          <p:nvPr/>
        </p:nvSpPr>
        <p:spPr>
          <a:xfrm>
            <a:off x="3322244" y="1600200"/>
            <a:ext cx="1005840" cy="10058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9" name="paso-1-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04" y="1851660"/>
            <a:ext cx="502920" cy="502920"/>
          </a:xfrm>
          <a:prstGeom prst="rect">
            <a:avLst/>
          </a:prstGeom>
        </p:spPr>
      </p:pic>
      <p:sp>
        <p:nvSpPr>
          <p:cNvPr id="10" name="flecha-1"/>
          <p:cNvSpPr/>
          <p:nvPr/>
        </p:nvSpPr>
        <p:spPr>
          <a:xfrm>
            <a:off x="4419524" y="2103120"/>
            <a:ext cx="1081964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Text 7"/>
          <p:cNvSpPr txBox="1"/>
          <p:nvPr/>
        </p:nvSpPr>
        <p:spPr>
          <a:xfrm>
            <a:off x="2819324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MSA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2819324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Alineamiento múltiple vía ColabFold</a:t>
            </a:r>
            <a:endParaRPr lang="en-US" sz="1400" dirty="0"/>
          </a:p>
        </p:txBody>
      </p:sp>
      <p:sp>
        <p:nvSpPr>
          <p:cNvPr id="13" name="paso-2-circulo"/>
          <p:cNvSpPr/>
          <p:nvPr/>
        </p:nvSpPr>
        <p:spPr>
          <a:xfrm>
            <a:off x="5592928" y="1600200"/>
            <a:ext cx="1005840" cy="10058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paso-2-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388" y="1851660"/>
            <a:ext cx="502920" cy="502920"/>
          </a:xfrm>
          <a:prstGeom prst="rect">
            <a:avLst/>
          </a:prstGeom>
        </p:spPr>
      </p:pic>
      <p:sp>
        <p:nvSpPr>
          <p:cNvPr id="15" name="flecha-2"/>
          <p:cNvSpPr/>
          <p:nvPr/>
        </p:nvSpPr>
        <p:spPr>
          <a:xfrm>
            <a:off x="6690208" y="2103120"/>
            <a:ext cx="1081964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6" name="Text 11"/>
          <p:cNvSpPr txBox="1"/>
          <p:nvPr/>
        </p:nvSpPr>
        <p:spPr>
          <a:xfrm>
            <a:off x="5090008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Embeddings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5090008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Representaciones single y pair del Evoformer de AlphaFold2</a:t>
            </a:r>
            <a:endParaRPr lang="en-US" sz="1400" dirty="0"/>
          </a:p>
        </p:txBody>
      </p:sp>
      <p:sp>
        <p:nvSpPr>
          <p:cNvPr id="18" name="paso-3-circulo"/>
          <p:cNvSpPr/>
          <p:nvPr/>
        </p:nvSpPr>
        <p:spPr>
          <a:xfrm>
            <a:off x="7863611" y="160020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paso-3-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071" y="1851660"/>
            <a:ext cx="502920" cy="502920"/>
          </a:xfrm>
          <a:prstGeom prst="rect">
            <a:avLst/>
          </a:prstGeom>
        </p:spPr>
      </p:pic>
      <p:sp>
        <p:nvSpPr>
          <p:cNvPr id="20" name="flecha-3"/>
          <p:cNvSpPr/>
          <p:nvPr/>
        </p:nvSpPr>
        <p:spPr>
          <a:xfrm>
            <a:off x="8960891" y="2103120"/>
            <a:ext cx="1081964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Text 15"/>
          <p:cNvSpPr txBox="1"/>
          <p:nvPr/>
        </p:nvSpPr>
        <p:spPr>
          <a:xfrm>
            <a:off x="7360691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Difusión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7360691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Elimina ruido de la posición y orientación de cada residuo</a:t>
            </a:r>
            <a:endParaRPr lang="en-US" sz="1400" dirty="0"/>
          </a:p>
        </p:txBody>
      </p:sp>
      <p:sp>
        <p:nvSpPr>
          <p:cNvPr id="23" name="paso-4-circulo"/>
          <p:cNvSpPr/>
          <p:nvPr/>
        </p:nvSpPr>
        <p:spPr>
          <a:xfrm>
            <a:off x="10134295" y="1600200"/>
            <a:ext cx="1005840" cy="10058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4" name="paso-4-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5755" y="1851660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631375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Ensamble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9631375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N estructuras de backbone, filtradas por calidad</a:t>
            </a:r>
            <a:endParaRPr lang="en-US" sz="1400" dirty="0"/>
          </a:p>
        </p:txBody>
      </p:sp>
      <p:sp>
        <p:nvSpPr>
          <p:cNvPr id="27" name="nota-difusion"/>
          <p:cNvSpPr/>
          <p:nvPr/>
        </p:nvSpPr>
        <p:spPr>
          <a:xfrm>
            <a:off x="548640" y="4572000"/>
            <a:ext cx="11094415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868680" y="4709160"/>
            <a:ext cx="104543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Idea central: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 residuo se representa como un marco rígido (traslación + rotación). El modelo parte de ruido aleatorio y, mediante pasos sucesivos de eliminación de ruido condicionados por los embeddings, llega a una estructura plausible. Repetir con otra semilla da otra muestra del ensamble.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 en tres etapas</a:t>
            </a:r>
            <a:endParaRPr lang="en-US" sz="3200" dirty="0"/>
          </a:p>
        </p:txBody>
      </p:sp>
      <p:sp>
        <p:nvSpPr>
          <p:cNvPr id="3" name="etapa-1"/>
          <p:cNvSpPr/>
          <p:nvPr/>
        </p:nvSpPr>
        <p:spPr>
          <a:xfrm>
            <a:off x="548640" y="1417320"/>
            <a:ext cx="11094415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tapa-1-circulo"/>
          <p:cNvSpPr/>
          <p:nvPr/>
        </p:nvSpPr>
        <p:spPr>
          <a:xfrm>
            <a:off x="868680" y="1691640"/>
            <a:ext cx="777240" cy="7772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etapa-1-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188595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18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Etapa 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19202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Preentrenamiento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600200"/>
            <a:ext cx="59280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Estructuras de la AlphaFold DB, agrupadas para cubrir la diversidad de conformaciones de cada familia.</a:t>
            </a:r>
            <a:endParaRPr lang="en-US" sz="1500" dirty="0"/>
          </a:p>
        </p:txBody>
      </p:sp>
      <p:sp>
        <p:nvSpPr>
          <p:cNvPr id="9" name="etapa-2"/>
          <p:cNvSpPr/>
          <p:nvPr/>
        </p:nvSpPr>
        <p:spPr>
          <a:xfrm>
            <a:off x="548640" y="2971800"/>
            <a:ext cx="11094415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tapa-2-circulo"/>
          <p:cNvSpPr/>
          <p:nvPr/>
        </p:nvSpPr>
        <p:spPr>
          <a:xfrm>
            <a:off x="868680" y="3246120"/>
            <a:ext cx="777240" cy="7772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etapa-2-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344043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20240" y="3172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Etapa 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920240" y="3474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Ajuste con dinámica molecular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394960" y="3154680"/>
            <a:ext cx="59280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Más de 200 ms de simulaciones MD, para que las poblaciones reflejen el equilibrio termodinámico.</a:t>
            </a:r>
            <a:endParaRPr lang="en-US" sz="1500" dirty="0"/>
          </a:p>
        </p:txBody>
      </p:sp>
      <p:sp>
        <p:nvSpPr>
          <p:cNvPr id="15" name="etapa-3"/>
          <p:cNvSpPr/>
          <p:nvPr/>
        </p:nvSpPr>
        <p:spPr>
          <a:xfrm>
            <a:off x="548640" y="4526280"/>
            <a:ext cx="11094415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etapa-3-circulo"/>
          <p:cNvSpPr/>
          <p:nvPr/>
        </p:nvSpPr>
        <p:spPr>
          <a:xfrm>
            <a:off x="868680" y="48006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etapa-3-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499491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920240" y="4727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Etapa 3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920240" y="5029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Ajuste con experimentos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5394960" y="4709160"/>
            <a:ext cx="59280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Estabilidades de plegamiento medidas, para que la fracción plegada/desplegada concuerde con ΔG experimental.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Versiones del checkpoint: bioemu-v1.0 (preprint), bioemu-v1.1 (artículo en Science, usado aquí), bioemu-v1.2 (más MD y datos experimentales).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Entradas: una secuencia y unos pocos parámetros</a:t>
            </a:r>
            <a:endParaRPr lang="en-US" sz="3200" dirty="0"/>
          </a:p>
        </p:txBody>
      </p:sp>
      <p:graphicFrame>
        <p:nvGraphicFramePr>
          <p:cNvPr id="8" name="tabla-entrad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9494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383280"/>
                <a:gridCol w="19202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usado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Secuencia, archivo .fasta o .a3m (con MSA propio)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lbpchey_model0.fasta (339 aa)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num_samples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Estructuras a generar antes del filtro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batch_size_100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Lote para 100 aa; se escala por (100/L)²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→ lote efectivo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model_name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Checkpoint: bioemu-v1.0, v1.1 o v1.2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bioemu-v1.1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filter_samples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 choques y cadenas rotas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output_dir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Carpeta de salida; permite reanudar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bioemu/lbpchey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odigo"/>
          <p:cNvSpPr/>
          <p:nvPr/>
        </p:nvSpPr>
        <p:spPr>
          <a:xfrm>
            <a:off x="7818120" y="1417320"/>
            <a:ext cx="3824935" cy="3328416"/>
          </a:xfrm>
          <a:prstGeom prst="roundRect">
            <a:avLst>
              <a:gd name="adj" fmla="val 219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Comando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1965960"/>
            <a:ext cx="3276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bioemu.sample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--sequence lbpchey_model0.fasta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--num_samples 300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--batch_size_100 10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--output_dir bioemu/lbpchey</a:t>
            </a:r>
            <a:endParaRPr lang="en-US" sz="1100" dirty="0"/>
          </a:p>
        </p:txBody>
      </p:sp>
      <p:sp>
        <p:nvSpPr>
          <p:cNvPr id="7" name="nota-entrada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507492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 secuencia se extrajo del modelo 0 de AlphaFold3.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BioEmu no usa coordenadas de entrada: el modelo de AF3 sirve como fuente de la secuencia y como referencia para el análisis.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Salidas: del backbone al ensamble con todos los átomos</a:t>
            </a:r>
            <a:endParaRPr lang="en-US" sz="3200" dirty="0"/>
          </a:p>
        </p:txBody>
      </p:sp>
      <p:graphicFrame>
        <p:nvGraphicFramePr>
          <p:cNvPr id="9" name="tabla-salid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754880"/>
                <a:gridCol w="3047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Generado por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topology.pdb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Topología del backbone (N, CA, C, 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bioemu.sample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samples.xtc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Coordenadas de las 246 muestras filtradas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bioemu.sample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batch_*.npz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Lotes crudos; permiten reanudar el muestreo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bioemu.sample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samples_sidechain_rec.pdb / .xtc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Cadenas laterales reconstruidas con HPacker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bioemu.sidechain_relax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samples_md_equil.pdb / .xtc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Ensamble minimizado con OpenMM (átomos pesados)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bioemu.sidechain_relax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Archivos derivados del análisis</a:t>
            </a:r>
            <a:endParaRPr lang="en-US" sz="1500" dirty="0"/>
          </a:p>
        </p:txBody>
      </p:sp>
      <p:sp>
        <p:nvSpPr>
          <p:cNvPr id="5" name="derivado-0"/>
          <p:cNvSpPr/>
          <p:nvPr/>
        </p:nvSpPr>
        <p:spPr>
          <a:xfrm>
            <a:off x="548640" y="4983480"/>
            <a:ext cx="35204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erivado-0-circulo"/>
          <p:cNvSpPr/>
          <p:nvPr/>
        </p:nvSpPr>
        <p:spPr>
          <a:xfrm>
            <a:off x="777240" y="5257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derivado-0-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3949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120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rmsd_lobulos.png · apertura_lobulos.png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463040" y="5623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Histogramas del análisis</a:t>
            </a:r>
            <a:endParaRPr lang="en-US" sz="1200" dirty="0"/>
          </a:p>
        </p:txBody>
      </p:sp>
      <p:sp>
        <p:nvSpPr>
          <p:cNvPr id="10" name="derivado-1"/>
          <p:cNvSpPr/>
          <p:nvPr/>
        </p:nvSpPr>
        <p:spPr>
          <a:xfrm>
            <a:off x="4343400" y="4983480"/>
            <a:ext cx="35204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derivado-1-circulo"/>
          <p:cNvSpPr/>
          <p:nvPr/>
        </p:nvSpPr>
        <p:spPr>
          <a:xfrm>
            <a:off x="4572000" y="5257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derivado-1-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53949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7800" y="5120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repr_cerrada / mediana / abierta.pdb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257800" y="5623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Estructuras representativas</a:t>
            </a:r>
            <a:endParaRPr lang="en-US" sz="1200" dirty="0"/>
          </a:p>
        </p:txBody>
      </p:sp>
      <p:sp>
        <p:nvSpPr>
          <p:cNvPr id="15" name="derivado-2"/>
          <p:cNvSpPr/>
          <p:nvPr/>
        </p:nvSpPr>
        <p:spPr>
          <a:xfrm>
            <a:off x="8138160" y="4983480"/>
            <a:ext cx="35204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derivado-2-circulo"/>
          <p:cNvSpPr/>
          <p:nvPr/>
        </p:nvSpPr>
        <p:spPr>
          <a:xfrm>
            <a:off x="8366760" y="5257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derivado-2-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53949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52560" y="5120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ensamble_lbpchey.pdb.gz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9052560" y="5623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246 modelos ordenados para PyMOL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completo: unas 4 horas en una GPU</a:t>
            </a:r>
            <a:endParaRPr lang="en-US" sz="3200" dirty="0"/>
          </a:p>
        </p:txBody>
      </p:sp>
      <p:sp>
        <p:nvSpPr>
          <p:cNvPr id="3" name="linea-tiempo"/>
          <p:cNvSpPr/>
          <p:nvPr/>
        </p:nvSpPr>
        <p:spPr>
          <a:xfrm>
            <a:off x="1394460" y="2103120"/>
            <a:ext cx="940277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" name="hito-0"/>
          <p:cNvSpPr/>
          <p:nvPr/>
        </p:nvSpPr>
        <p:spPr>
          <a:xfrm>
            <a:off x="1120140" y="1828800"/>
            <a:ext cx="548640" cy="54864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01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AlphaFold3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Modelo 0 · pTM 0.81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86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web</a:t>
            </a:r>
            <a:endParaRPr lang="en-US" sz="1500" dirty="0"/>
          </a:p>
        </p:txBody>
      </p:sp>
      <p:sp>
        <p:nvSpPr>
          <p:cNvPr id="9" name="hito-1"/>
          <p:cNvSpPr/>
          <p:nvPr/>
        </p:nvSpPr>
        <p:spPr>
          <a:xfrm>
            <a:off x="3000695" y="1828800"/>
            <a:ext cx="548640" cy="54864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00695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429195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MSA + embeddings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429195" y="32461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ColabFold + AF2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429195" y="3886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~20 min</a:t>
            </a:r>
            <a:endParaRPr lang="en-US" sz="1500" dirty="0"/>
          </a:p>
        </p:txBody>
      </p:sp>
      <p:sp>
        <p:nvSpPr>
          <p:cNvPr id="14" name="hito-2"/>
          <p:cNvSpPr/>
          <p:nvPr/>
        </p:nvSpPr>
        <p:spPr>
          <a:xfrm>
            <a:off x="4881250" y="182880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8125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309750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Muestreo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09750" y="32461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300 → 246 tras filtro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09750" y="3886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~17 min</a:t>
            </a:r>
            <a:endParaRPr lang="en-US" sz="1500" dirty="0"/>
          </a:p>
        </p:txBody>
      </p:sp>
      <p:sp>
        <p:nvSpPr>
          <p:cNvPr id="19" name="hito-3"/>
          <p:cNvSpPr/>
          <p:nvPr/>
        </p:nvSpPr>
        <p:spPr>
          <a:xfrm>
            <a:off x="6761805" y="1828800"/>
            <a:ext cx="548640" cy="54864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1805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190305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Cadenas laterales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190305" y="32461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HPacker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190305" y="3886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 h 30 min</a:t>
            </a:r>
            <a:endParaRPr lang="en-US" sz="1500" dirty="0"/>
          </a:p>
        </p:txBody>
      </p:sp>
      <p:sp>
        <p:nvSpPr>
          <p:cNvPr id="24" name="hito-4"/>
          <p:cNvSpPr/>
          <p:nvPr/>
        </p:nvSpPr>
        <p:spPr>
          <a:xfrm>
            <a:off x="8642360" y="1828800"/>
            <a:ext cx="548640" cy="54864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423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070860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Minimización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070860" y="32461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OpenMM, solvente explícito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070860" y="3886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 h 07 min</a:t>
            </a:r>
            <a:endParaRPr lang="en-US" sz="1500" dirty="0"/>
          </a:p>
        </p:txBody>
      </p:sp>
      <p:sp>
        <p:nvSpPr>
          <p:cNvPr id="29" name="hito-5"/>
          <p:cNvSpPr/>
          <p:nvPr/>
        </p:nvSpPr>
        <p:spPr>
          <a:xfrm>
            <a:off x="10522915" y="1828800"/>
            <a:ext cx="548640" cy="54864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22915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951415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Análisis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951415" y="32461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RMSD, apertura, PyMOL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951415" y="3886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&lt; 1 min</a:t>
            </a:r>
            <a:endParaRPr lang="en-US" sz="1500" dirty="0"/>
          </a:p>
        </p:txBody>
      </p:sp>
      <p:sp>
        <p:nvSpPr>
          <p:cNvPr id="34" name="scripts"/>
          <p:cNvSpPr/>
          <p:nvPr/>
        </p:nvSpPr>
        <p:spPr>
          <a:xfrm>
            <a:off x="548640" y="4709160"/>
            <a:ext cx="11094415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8680" y="4800600"/>
            <a:ext cx="104543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run_bioemu.sh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 pasos 1–4 (instala el entorno si falta, extrae la secuencia, muestrea y relaja)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analiza_ensamble.py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 RMSD por lóbulo, apertura y representativas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prepara_visualizacion.py · ver_ensamble.pml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 ensamble ordenado y película en PyMOL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LBPCheY: un dominio CheY insertado en LBP</a:t>
            </a:r>
            <a:endParaRPr lang="en-US" sz="3200" dirty="0"/>
          </a:p>
        </p:txBody>
      </p:sp>
      <p:sp>
        <p:nvSpPr>
          <p:cNvPr id="3" name="dominio-0"/>
          <p:cNvSpPr/>
          <p:nvPr/>
        </p:nvSpPr>
        <p:spPr>
          <a:xfrm>
            <a:off x="548640" y="1691640"/>
            <a:ext cx="2265770" cy="502920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286000"/>
            <a:ext cx="22657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LBP  1–140</a:t>
            </a:r>
            <a:endParaRPr lang="en-US" sz="1300" dirty="0"/>
          </a:p>
        </p:txBody>
      </p:sp>
      <p:sp>
        <p:nvSpPr>
          <p:cNvPr id="5" name="dominio-1"/>
          <p:cNvSpPr/>
          <p:nvPr/>
        </p:nvSpPr>
        <p:spPr>
          <a:xfrm>
            <a:off x="2814410" y="1691640"/>
            <a:ext cx="1666959" cy="50292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14410" y="2286000"/>
            <a:ext cx="1666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CheY  141–243</a:t>
            </a:r>
            <a:endParaRPr lang="en-US" sz="1300" dirty="0"/>
          </a:p>
        </p:txBody>
      </p:sp>
      <p:sp>
        <p:nvSpPr>
          <p:cNvPr id="7" name="dominio-2"/>
          <p:cNvSpPr/>
          <p:nvPr/>
        </p:nvSpPr>
        <p:spPr>
          <a:xfrm>
            <a:off x="4481369" y="1691640"/>
            <a:ext cx="1553671" cy="50292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1369" y="2286000"/>
            <a:ext cx="15536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LBP  244–339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Mapa de dominios (339 residuos)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8036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La pregunta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Cada lóbulo pliega bien por separado, pero ¿se mueven uno respecto al otro?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Según el artículo de la quimera, el cristal muestra una orientación entre lóbulos distinta a la del diseño, y la calorimetría (DSC) sugiere un desplegamiento en dos etapas. Un ensamble permite explorar esa flexibilidad, que un modelo estático no muestra.</a:t>
            </a:r>
            <a:endParaRPr lang="en-US" sz="1600" dirty="0"/>
          </a:p>
        </p:txBody>
      </p:sp>
      <p:pic>
        <p:nvPicPr>
          <p:cNvPr id="11" name="modelo-af3-2" descr="af3_dominios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17320"/>
            <a:ext cx="5212080" cy="354106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400800" y="5074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Modelo 0 de AlphaFold3 (pTM 0.81)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lóbulo conserva el plegamiento del modelo AF3</a:t>
            </a:r>
            <a:endParaRPr lang="en-US" sz="3200" dirty="0"/>
          </a:p>
        </p:txBody>
      </p:sp>
      <p:sp>
        <p:nvSpPr>
          <p:cNvPr id="3" name="rmsd-CheY"/>
          <p:cNvSpPr/>
          <p:nvPr/>
        </p:nvSpPr>
        <p:spPr>
          <a:xfrm>
            <a:off x="548640" y="146304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RMSD CheY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94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</a:t>
            </a:r>
            <a:pPr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Å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337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± 0.30 Å · mediana 0.73 Å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947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Prácticamente rígido en todo el ensamble</a:t>
            </a:r>
            <a:endParaRPr lang="en-US" sz="1400" dirty="0"/>
          </a:p>
        </p:txBody>
      </p:sp>
      <p:sp>
        <p:nvSpPr>
          <p:cNvPr id="8" name="rmsd-LBP"/>
          <p:cNvSpPr/>
          <p:nvPr/>
        </p:nvSpPr>
        <p:spPr>
          <a:xfrm>
            <a:off x="4343400" y="146304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737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RMSD LBP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194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2.30</a:t>
            </a:r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Å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337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± 1.87 Å · mediana 1.83 Å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7947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86.2% de las muestras &lt; 3 Å; 12 muestras &gt; 5 Å</a:t>
            </a:r>
            <a:endParaRPr lang="en-US" sz="1400" dirty="0"/>
          </a:p>
        </p:txBody>
      </p:sp>
      <p:sp>
        <p:nvSpPr>
          <p:cNvPr id="13" name="rmsd-Global"/>
          <p:cNvSpPr/>
          <p:nvPr/>
        </p:nvSpPr>
        <p:spPr>
          <a:xfrm>
            <a:off x="8138160" y="146304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1737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RMSD Global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194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3.56</a:t>
            </a:r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Å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3337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± 2.32 Å · mediana 2.88 Å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7947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Mayor que cada lóbulo: hay movimiento entre ellos</a:t>
            </a:r>
            <a:endParaRPr lang="en-US" sz="1400" dirty="0"/>
          </a:p>
        </p:txBody>
      </p:sp>
      <p:sp>
        <p:nvSpPr>
          <p:cNvPr id="18" name="lectura-rmsd"/>
          <p:cNvSpPr/>
          <p:nvPr/>
        </p:nvSpPr>
        <p:spPr>
          <a:xfrm>
            <a:off x="548640" y="5029200"/>
            <a:ext cx="11094415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51206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Lectura: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RMSD bajo en cada lóbulo y más alto en la estructura completa indica que ambos dominios pliegan bien y que lo que cambia es su orientación relativa.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lóbulos se abren y cierran en un rango de 13 Å</a:t>
            </a:r>
            <a:endParaRPr lang="en-US" sz="3200" dirty="0"/>
          </a:p>
        </p:txBody>
      </p:sp>
      <p:graphicFrame>
        <p:nvGraphicFramePr>
          <p:cNvPr id="3" name="histograma-apertura" descr=""/>
          <p:cNvGraphicFramePr/>
          <p:nvPr/>
        </p:nvGraphicFramePr>
        <p:xfrm>
          <a:off x="548640" y="1371600"/>
          <a:ext cx="72237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pertura-0"/>
          <p:cNvSpPr/>
          <p:nvPr/>
        </p:nvSpPr>
        <p:spPr>
          <a:xfrm>
            <a:off x="8092440" y="1463040"/>
            <a:ext cx="3550615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66760" y="1600200"/>
            <a:ext cx="3001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27.9 Å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366760" y="228600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media del ensamble (± 2.0)</a:t>
            </a:r>
            <a:endParaRPr lang="en-US" sz="1400" dirty="0"/>
          </a:p>
        </p:txBody>
      </p:sp>
      <p:sp>
        <p:nvSpPr>
          <p:cNvPr id="7" name="apertura-1"/>
          <p:cNvSpPr/>
          <p:nvPr/>
        </p:nvSpPr>
        <p:spPr>
          <a:xfrm>
            <a:off x="8092440" y="2971800"/>
            <a:ext cx="3550615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3108960"/>
            <a:ext cx="3001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– 36 Å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379476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rango observado</a:t>
            </a:r>
            <a:endParaRPr lang="en-US" sz="1400" dirty="0"/>
          </a:p>
        </p:txBody>
      </p:sp>
      <p:sp>
        <p:nvSpPr>
          <p:cNvPr id="10" name="apertura-2"/>
          <p:cNvSpPr/>
          <p:nvPr/>
        </p:nvSpPr>
        <p:spPr>
          <a:xfrm>
            <a:off x="8092440" y="4480560"/>
            <a:ext cx="3550615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66760" y="4617720"/>
            <a:ext cx="3001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27.8 Å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530352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modelo de AlphaFold3: cae en el centro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LBP fijo, CheY se desplaza entre conformaciones</a:t>
            </a:r>
            <a:endParaRPr lang="en-US" sz="3200" dirty="0"/>
          </a:p>
        </p:txBody>
      </p:sp>
      <p:pic>
        <p:nvPicPr>
          <p:cNvPr id="3" name="ensamble-encimado" descr="ensamble_overlay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400800" cy="45642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8 estructuras del ensamble, de la más cerrada a la más abierta, alineadas sobre LBP</a:t>
            </a:r>
            <a:endParaRPr lang="en-US" sz="1200" dirty="0"/>
          </a:p>
        </p:txBody>
      </p:sp>
      <p:sp>
        <p:nvSpPr>
          <p:cNvPr id="5" name="pymol"/>
          <p:cNvSpPr/>
          <p:nvPr/>
        </p:nvSpPr>
        <p:spPr>
          <a:xfrm>
            <a:off x="7315200" y="1417320"/>
            <a:ext cx="4327855" cy="4526280"/>
          </a:xfrm>
          <a:prstGeom prst="roundRect">
            <a:avLst>
              <a:gd name="adj" fmla="val 1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Verlo en PyMOL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05740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pymol visualizacion/ver_ensamble.pml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60604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mplay / mstop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953512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película cerrada → abierta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347472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all_states, on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3822192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 246 estados encimados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34340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 mediana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4690872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mostrar una representativa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5074920"/>
            <a:ext cx="3779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Las muestras son independientes, no una trayectoria: la película ordenada muestra la tendencia, no un camino temporal.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conformación dominante y dos giros de CheY</a:t>
            </a:r>
            <a:endParaRPr lang="en-US" sz="3200" dirty="0"/>
          </a:p>
        </p:txBody>
      </p:sp>
      <p:graphicFrame>
        <p:nvGraphicFramePr>
          <p:cNvPr id="3" name="grafica-poblaciones" descr=""/>
          <p:cNvGraphicFramePr/>
          <p:nvPr/>
        </p:nvGraphicFramePr>
        <p:xfrm>
          <a:off x="548640" y="1371600"/>
          <a:ext cx="42062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a-conformacion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417320"/>
          <a:ext cx="6568135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960120"/>
                <a:gridCol w="1691640"/>
                <a:gridCol w="1965960"/>
                <a:gridCol w="126187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Población (IC 95%)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ΔG kcal/mol (IC 95%)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de CheY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7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69.9% (64–76)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(referencia)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−3.5 ± 12°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22.0% (17–27)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+0.69 (0.52–0.89)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 ± 21°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 (5–12)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+1.28 (1.04–1.59)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−44 ± 47°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a-plegado"/>
          <p:cNvSpPr/>
          <p:nvPr/>
        </p:nvSpPr>
        <p:spPr>
          <a:xfrm>
            <a:off x="5074920" y="3611880"/>
            <a:ext cx="6568135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349240" y="3703320"/>
            <a:ext cx="60194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Ambos lóbulos plegados en 246/246 muestras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(contactos nativos ≥ 0.65, criterio de BioEmu): ΔG de desplegamiento &gt; 3.3 kcal/mol, el máximo medible con 246 muestras.</a:t>
            </a:r>
            <a:endParaRPr lang="en-US" sz="1400" dirty="0"/>
          </a:p>
        </p:txBody>
      </p:sp>
      <p:sp>
        <p:nvSpPr>
          <p:cNvPr id="7" name="formula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68680" y="53035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ΔG = −kT·ln(pᵢ / p₁)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 300 K · conformaciones por PCA + k-means de la posición de CheY · IC por bootstrap. BioEmu solo da estructuras: las poblaciones salen de contar muestras.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Superficie de energía libre: el mínimo coincide con AF3</a:t>
            </a:r>
            <a:endParaRPr lang="en-US" sz="3200" dirty="0"/>
          </a:p>
        </p:txBody>
      </p:sp>
      <p:pic>
        <p:nvPicPr>
          <p:cNvPr id="3" name="superficie-fe" descr="superficie_energia_lib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680960" cy="39257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80225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F = −kT·ln p (kernel gaussiano), curvas cada 0.5 kcal/mol. Estilo de la Fig. 3 del artículo de BioEmu; aquí con PCA y variables físicas en lugar de TICA (no hay MD).</a:t>
            </a:r>
            <a:endParaRPr lang="en-US" sz="1100" dirty="0"/>
          </a:p>
        </p:txBody>
      </p:sp>
      <p:sp>
        <p:nvSpPr>
          <p:cNvPr id="5" name="fe-0"/>
          <p:cNvSpPr/>
          <p:nvPr/>
        </p:nvSpPr>
        <p:spPr>
          <a:xfrm>
            <a:off x="8503920" y="1417320"/>
            <a:ext cx="3139135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32520" y="1554480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Mínimo en AF3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920240"/>
            <a:ext cx="2681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estrella (modelo 0) cae en el pozo más profundo de ambas superficies.</a:t>
            </a:r>
            <a:endParaRPr lang="en-US" sz="1300" dirty="0"/>
          </a:p>
        </p:txBody>
      </p:sp>
      <p:sp>
        <p:nvSpPr>
          <p:cNvPr id="8" name="fe-1"/>
          <p:cNvSpPr/>
          <p:nvPr/>
        </p:nvSpPr>
        <p:spPr>
          <a:xfrm>
            <a:off x="8503920" y="2834640"/>
            <a:ext cx="3139135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32520" y="2971800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Sin apertura discreta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3337560"/>
            <a:ext cx="2681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distancia entre lóbulos forma un solo pozo amplio (~27–28 Å).</a:t>
            </a:r>
            <a:endParaRPr lang="en-US" sz="1300" dirty="0"/>
          </a:p>
        </p:txBody>
      </p:sp>
      <p:sp>
        <p:nvSpPr>
          <p:cNvPr id="11" name="fe-2"/>
          <p:cNvSpPr/>
          <p:nvPr/>
        </p:nvSpPr>
        <p:spPr>
          <a:xfrm>
            <a:off x="8503920" y="4251960"/>
            <a:ext cx="3139135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32520" y="4389120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Giros opuestos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4754880"/>
            <a:ext cx="2681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Conf. 2 gira +32° y conf. 3 −44°, a ~1–1.5 kcal/mol.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tener en cuenta al interpretar el ensamble</a:t>
            </a:r>
            <a:endParaRPr lang="en-US" sz="3200" dirty="0"/>
          </a:p>
        </p:txBody>
      </p:sp>
      <p:sp>
        <p:nvSpPr>
          <p:cNvPr id="3" name="limite-0"/>
          <p:cNvSpPr/>
          <p:nvPr/>
        </p:nvSpPr>
        <p:spPr>
          <a:xfrm>
            <a:off x="548640" y="1417320"/>
            <a:ext cx="541004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mite-0-circulo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limite-0-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088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 información temporal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984248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muestras son del equilibrio; no dan cinéticas ni rutas de transición.</a:t>
            </a:r>
            <a:endParaRPr lang="en-US" sz="1400" dirty="0"/>
          </a:p>
        </p:txBody>
      </p:sp>
      <p:sp>
        <p:nvSpPr>
          <p:cNvPr id="8" name="limite-1"/>
          <p:cNvSpPr/>
          <p:nvPr/>
        </p:nvSpPr>
        <p:spPr>
          <a:xfrm>
            <a:off x="6233008" y="1417320"/>
            <a:ext cx="541004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imite-1-circulo"/>
          <p:cNvSpPr/>
          <p:nvPr/>
        </p:nvSpPr>
        <p:spPr>
          <a:xfrm>
            <a:off x="6507328" y="173736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limite-1-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190881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21728" y="160020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Solo backbone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421728" y="1984248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cadenas laterales se reconstruyen después con HPacker y OpenMM.</a:t>
            </a:r>
            <a:endParaRPr lang="en-US" sz="1400" dirty="0"/>
          </a:p>
        </p:txBody>
      </p:sp>
      <p:sp>
        <p:nvSpPr>
          <p:cNvPr id="13" name="limite-2"/>
          <p:cNvSpPr/>
          <p:nvPr/>
        </p:nvSpPr>
        <p:spPr>
          <a:xfrm>
            <a:off x="548640" y="2971800"/>
            <a:ext cx="541004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imite-2-circulo"/>
          <p:cNvSpPr/>
          <p:nvPr/>
        </p:nvSpPr>
        <p:spPr>
          <a:xfrm>
            <a:off x="822960" y="329184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limite-2-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346329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37360" y="315468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Una sola cadena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737360" y="3538728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modela complejos, ligandos ni cofactores.</a:t>
            </a:r>
            <a:endParaRPr lang="en-US" sz="1400" dirty="0"/>
          </a:p>
        </p:txBody>
      </p:sp>
      <p:sp>
        <p:nvSpPr>
          <p:cNvPr id="18" name="limite-3"/>
          <p:cNvSpPr/>
          <p:nvPr/>
        </p:nvSpPr>
        <p:spPr>
          <a:xfrm>
            <a:off x="6233008" y="2971800"/>
            <a:ext cx="541004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limite-3-circulo"/>
          <p:cNvSpPr/>
          <p:nvPr/>
        </p:nvSpPr>
        <p:spPr>
          <a:xfrm>
            <a:off x="6507328" y="329184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limite-3-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8" y="346329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21728" y="315468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Filtro de calidad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421728" y="3538728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descartaron 54 de 300 muestras (18%) por choques o cadena rota.</a:t>
            </a:r>
            <a:endParaRPr lang="en-US" sz="1400" dirty="0"/>
          </a:p>
        </p:txBody>
      </p:sp>
      <p:sp>
        <p:nvSpPr>
          <p:cNvPr id="23" name="limite-4"/>
          <p:cNvSpPr/>
          <p:nvPr/>
        </p:nvSpPr>
        <p:spPr>
          <a:xfrm>
            <a:off x="548640" y="4526280"/>
            <a:ext cx="541004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limite-4-circulo"/>
          <p:cNvSpPr/>
          <p:nvPr/>
        </p:nvSpPr>
        <p:spPr>
          <a:xfrm>
            <a:off x="822960" y="484632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limite-4-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" y="5017770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737360" y="470916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Depende del MSA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1737360" y="5093208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calidad de los embeddings depende del alineamiento de ColabFold.</a:t>
            </a:r>
            <a:endParaRPr lang="en-US" sz="1400" dirty="0"/>
          </a:p>
        </p:txBody>
      </p:sp>
      <p:sp>
        <p:nvSpPr>
          <p:cNvPr id="28" name="limite-5"/>
          <p:cNvSpPr/>
          <p:nvPr/>
        </p:nvSpPr>
        <p:spPr>
          <a:xfrm>
            <a:off x="6233008" y="4526280"/>
            <a:ext cx="541004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limite-5-circulo"/>
          <p:cNvSpPr/>
          <p:nvPr/>
        </p:nvSpPr>
        <p:spPr>
          <a:xfrm>
            <a:off x="6507328" y="484632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0" name="limite-5-i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8778" y="5017770"/>
            <a:ext cx="342900" cy="3429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421728" y="470916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Costo práctico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7421728" y="5093208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Embeddings en CPU (~20 min) y relajación en un hilo (~3.5 h).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siguientes pasos</a:t>
            </a:r>
            <a:endParaRPr lang="en-US" sz="3600" dirty="0"/>
          </a:p>
        </p:txBody>
      </p:sp>
      <p:sp>
        <p:nvSpPr>
          <p:cNvPr id="3" name="conclusion-0"/>
          <p:cNvSpPr/>
          <p:nvPr/>
        </p:nvSpPr>
        <p:spPr>
          <a:xfrm>
            <a:off x="548640" y="1600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>
              <a:alpha val="8000"/>
            </a:srgb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231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Lóbulos estables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CheY (0.8 Å) y LBP (mediana 1.8 Å) conservan el plegamiento del modelo de AlphaFold3.</a:t>
            </a:r>
            <a:endParaRPr lang="en-US" sz="1400" dirty="0"/>
          </a:p>
        </p:txBody>
      </p:sp>
      <p:sp>
        <p:nvSpPr>
          <p:cNvPr id="7" name="conclusion-1"/>
          <p:cNvSpPr/>
          <p:nvPr/>
        </p:nvSpPr>
        <p:spPr>
          <a:xfrm>
            <a:off x="4343400" y="1600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>
              <a:alpha val="8000"/>
            </a:srgb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4231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Bisagra flexible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8803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70% en la orientación de AF3; CheY gira +32° (22%) o −44° (8%) a solo 0.7–1.3 kcal/mol. Por contrastar con el cristal.</a:t>
            </a:r>
            <a:endParaRPr lang="en-US" sz="1400" dirty="0"/>
          </a:p>
        </p:txBody>
      </p:sp>
      <p:sp>
        <p:nvSpPr>
          <p:cNvPr id="11" name="conclusion-2"/>
          <p:cNvSpPr/>
          <p:nvPr/>
        </p:nvSpPr>
        <p:spPr>
          <a:xfrm>
            <a:off x="8138160" y="1600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>
              <a:alpha val="8000"/>
            </a:srgb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5820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24231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Pipeline reproducible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28803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Scripts, tutorial y resultados en un repositorio. Cerca de 4 h en una GPU.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Siguientes pasos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834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Comparar el ensamble con la estructura cristalográfica (8Q52)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Correr la variante LBPCheY-dbb y más muestras (1000) para mejorar la estadística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Inspeccionar las muestras de LBP con RMSD &gt; 5 Å (posible desplegamiento local)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y recursos</a:t>
            </a:r>
            <a:endParaRPr lang="en-US" sz="3200" dirty="0"/>
          </a:p>
        </p:txBody>
      </p:sp>
      <p:sp>
        <p:nvSpPr>
          <p:cNvPr id="3" name="ref-0-circulo"/>
          <p:cNvSpPr/>
          <p:nvPr/>
        </p:nvSpPr>
        <p:spPr>
          <a:xfrm>
            <a:off x="548640" y="150876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ref-0-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68021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417320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Artículo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801368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Lewis S. et al. Scalable emulation of protein equilibrium ensembles with generative deep learning. Science 389 (2025). doi:10.1126/science.adv9817</a:t>
            </a:r>
            <a:endParaRPr lang="en-US" sz="1400" dirty="0"/>
          </a:p>
        </p:txBody>
      </p:sp>
      <p:sp>
        <p:nvSpPr>
          <p:cNvPr id="7" name="ref-1-circulo"/>
          <p:cNvSpPr/>
          <p:nvPr/>
        </p:nvSpPr>
        <p:spPr>
          <a:xfrm>
            <a:off x="548640" y="265176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ref-1-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282321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560320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Código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944368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github.com/microsoft/bioemu · pesos en huggingface.co/microsoft/bioemu (licencia MIT)</a:t>
            </a:r>
            <a:endParaRPr lang="en-US" sz="1400" dirty="0"/>
          </a:p>
        </p:txBody>
      </p:sp>
      <p:sp>
        <p:nvSpPr>
          <p:cNvPr id="11" name="ref-2-circulo"/>
          <p:cNvSpPr/>
          <p:nvPr/>
        </p:nvSpPr>
        <p:spPr>
          <a:xfrm>
            <a:off x="548640" y="379476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ref-2-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396621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703320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Estructura de partida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087368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AlphaFold Server (AlphaFold3). Salida sujeta a los AlphaFold Server Output Terms of Use, uso no comercial.</a:t>
            </a:r>
            <a:endParaRPr lang="en-US" sz="1400" dirty="0"/>
          </a:p>
        </p:txBody>
      </p:sp>
      <p:sp>
        <p:nvSpPr>
          <p:cNvPr id="15" name="ref-3-circulo"/>
          <p:cNvSpPr/>
          <p:nvPr/>
        </p:nvSpPr>
        <p:spPr>
          <a:xfrm>
            <a:off x="548640" y="49377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ref-3-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5109210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4846320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Este trabajo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5230368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Repositorio jtuxman/lbpchey-bioemu: scripts, TUTORIAL.md, ensamble y figuras.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Emu LBPCheY">
  <a:themeElements>
    <a:clrScheme name="BioEmu LBPCheY">
      <a:dk1>
        <a:srgbClr val="1B2430"/>
      </a:dk1>
      <a:lt1>
        <a:srgbClr val="FFFFFF"/>
      </a:lt1>
      <a:dk2>
        <a:srgbClr val="13233A"/>
      </a:dk2>
      <a:lt2>
        <a:srgbClr val="EEF2F5"/>
      </a:lt2>
      <a:accent1>
        <a:srgbClr val="E8792B"/>
      </a:accent1>
      <a:accent2>
        <a:srgbClr val="5B6B78"/>
      </a:accent2>
      <a:accent3>
        <a:srgbClr val="2A9D8F"/>
      </a:accent3>
      <a:accent4>
        <a:srgbClr val="9AA7B2"/>
      </a:accent4>
      <a:accent5>
        <a:srgbClr val="F4C59E"/>
      </a:accent5>
      <a:accent6>
        <a:srgbClr val="264653"/>
      </a:accent6>
      <a:hlink>
        <a:srgbClr val="2A9D8F"/>
      </a:hlink>
      <a:folHlink>
        <a:srgbClr val="5B6B78"/>
      </a:folHlink>
    </a:clrScheme>
    <a:fontScheme name="BioEmu LBPChe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BioEmu: ensambles conformacionales de LBPCheY</dc:title>
  <dc:subject>PptxGenJS Presentation</dc:subject>
  <dc:creator>jtuxman</dc:creator>
  <cp:lastModifiedBy>jtuxman</cp:lastModifiedBy>
  <cp:revision>1</cp:revision>
  <dcterms:created xsi:type="dcterms:W3CDTF">2026-10-09T06:02:40Z</dcterms:created>
  <dcterms:modified xsi:type="dcterms:W3CDTF">2026-10-09T06:02:40Z</dcterms:modified>
</cp:coreProperties>
</file>